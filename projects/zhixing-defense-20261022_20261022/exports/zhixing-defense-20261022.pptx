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各位老师好，我介绍的项目叫知行，是一款校园通知 AI 助手。它面向通知信息分散、行动要求不容易看清的问题，把通知整理成有原文依据的候选行动和办理建议。学生核对之后，才会把事项保存在手机。本次答辩展示的是 Android 0.3.8 版本，重点是实际产品、模型调用和已完成的验收。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先看一条课程演示用的合成通知：它要求在十月二十三日十八点前把项目书 PDF 提交到教学平台，同时提到还要参加项目答疑，但具体时间另行通知。用户需要分清要做什么、什么时候完成、交到哪里，以及哪些信息仍然缺失。知行首页提供粘贴和文档入口；图中的 H5 首页是网站界面，演示通知的内容仍需用户核对。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户可以粘贴通知，也可以导入文档；服务端解析后，AI提出候选行动并生成深读建议。核对页会展示原文摘句，用户可以修改候选字段，再勾选确认。只有经过用户确认的事项才会进入本机待办；保存后可以离线查看和编辑，也可以带入系统日历。这条人工确认关口保留了学生对最终行动的决定权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I深读把单纯的事项提取扩展为可审阅的办理建议。页面会先给一句话概括，再按先后关系提出一至五项步骤，并为每一步说明理由、附上通知中的连续原文摘句。它还会列出最多三个通知没有说明、但办理前值得追问的问题。步骤是模型建议，不是学校新增的正式要求；用户可以回到原通知核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这里展示的是实时 AI 核对页，通知本身是专门编写的合成内容。结果识别出提交项目书 PDF 到教学平台，并给出二零二六年十月二十三日十八点的截止时间；另一项准备三分钟演示视频的行动也有原文依据。答辩时间没有在通知中明确，所以页面保留为待确认，而不是替用户补出一个时间。用户可以逐项查看依据，再决定是否保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存到手机之后，待办可以离线查看、编辑和标记完成。选择添加为日程时，知行会打开系统日历的预填编辑页：开始时间取通知截止时间，结束时间默认延后半小时；只有日期而没有具体时刻时，使用当地时间上午九点。学生仍需在系统日历中检查并保存。我们在 Android 15 的 iQOO 9 上核对过预填时间，但没有验证真实事件保存和提醒送达。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移动端使用 uni-app 和 Vue 3，账号会话及文档输入都由客户端处理；请求通过 HTTPS 到达 FastAPI 服务端。服务端执行鉴权、额度控制和文档提取，再调用 DeepSeek 的 deepseek-flash 模型，对返回的 JSON 结构和原文连续引用进行检查。模型密钥只留在服务端，校验通过的结果再交回用户核对。通知正文只会在用户主动解析、深读或对话时发送到服务端和模型。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输出需要通过结构和引用校验；深读结果不合格时最多自动重试两次，如果仍然失败，系统会明确提示，不会编造一份看似完整的答案。原文没有提供时间时，时间继续保持缺失，用户可以查看原文、手动修改后再决定是否保存。已经保存的任务留在本机，断网时仍可查看和编辑。文档单个文件不超过二十兆，PDF最多八十页，扫描件每次最多识别十页；识别效果还取决于页面清晰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目前记录的自动化测试共有八十二项：服务端 pytest 四十八项，移动端 Node 测试三十四项，H5 和 App 资源构建也已通过。Android 15 的 iQOO 9 上完成了覆盖升级，并确认原有本机数据保留。对同一条二千九百八十四字通知，修复后连续三次完成了线上 AI 深读，结果包含有效概括、步骤、待追问问题和可核对引用。这是单条样例的稳定性抽查，不能代表整体准确率。日历只核验了预填编辑页，没有保存测试事件。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知行网站已通过 HTTPS 发布到 tiredwhite.cn，Android 0.3.8 安装包也已公开下载。公网下载包与本机签名包的 SHA-256 一致。当前仍需继续验证系统日历事件真实保存和提醒送达，并用多种真实扫描件评估 OCR，再用冻结的通知样本集进行正式 AI 效果评估。本项目没有实现校园知识库、账号云同步或由 AI 自动提交事务；这些边界有助于准确说明当前交付范围。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知行让 AI 解释通知并提出有原文依据的行动建议，学生核对后再决定是否保存。答辩演示可以沿着一条清晰的路径展开：先看 AI 深读，再核对原文，保存待办，最后断网修改已保存事项。这个流程呈现了模型能力，也展示了出错时保留人工判断、缺失信息不擅自补全的设计原则。谢谢各位老师。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hixing-defense-202610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hixing-defense-202610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3e8dba14edbb0ea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84183089a7e62a2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6edb1bb2964b58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a24242b29ff2c8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5142" y="425450"/>
            <a:ext cx="31409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智能移动应用开发项目实践 · 课程答辩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42009" y="425450"/>
            <a:ext cx="13948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b="1" dirty="0">
                <a:solidFill>
                  <a:srgbClr val="13A89E"/>
                </a:solidFill>
                <a:latin typeface="Arial"/>
                <a:ea typeface="Arial"/>
                <a:cs typeface="Arial"/>
              </a:rPr>
              <a:t>ANDROID 0.3.8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8763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42950" y="1530350"/>
            <a:ext cx="1411224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知行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9808" y="2393950"/>
            <a:ext cx="248265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校园通知 AI 助手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3712" y="3327400"/>
            <a:ext cx="3694176" cy="1294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650"/>
              </a:lnSpc>
            </a:pPr>
            <a:r>
              <a:rPr lang="zh-CN" sz="36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让通知里的下一步</a:t>
            </a:r>
            <a:br>
              <a:rPr lang="zh-CN" sz="36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</a:br>
            <a:r>
              <a:rPr lang="zh-CN" sz="36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有据可查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2856" y="4775200"/>
            <a:ext cx="2955798" cy="694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700"/>
              </a:lnSpc>
            </a:pP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AI提出候选行动与办理建议，</a:t>
            </a:r>
            <a:b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学生核对后再保存。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57150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28575">
            <a:solidFill>
              <a:srgbClr val="13A89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55142" y="5902325"/>
            <a:ext cx="33395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真实界面 · 真实模型调用 · 明确验证边界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7905750" y="2095500"/>
            <a:ext cx="9525" cy="3067050"/>
          </a:xfrm>
          <a:custGeom>
            <a:avLst/>
            <a:gdLst/>
            <a:ahLst/>
            <a:cxnLst/>
            <a:rect l="l" t="t" r="r" b="b"/>
            <a:pathLst>
              <a:path w="9525" h="3067050">
                <a:moveTo>
                  <a:pt x="0" y="0"/>
                </a:moveTo>
                <a:lnTo>
                  <a:pt x="0" y="3067050"/>
                </a:lnTo>
              </a:path>
            </a:pathLst>
          </a:custGeom>
          <a:noFill/>
          <a:ln w="19050">
            <a:solidFill>
              <a:srgbClr val="D5E1E8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7696200" y="2114550"/>
            <a:ext cx="419100" cy="419100"/>
          </a:xfrm>
          <a:prstGeom prst="ellipse">
            <a:avLst/>
          </a:prstGeom>
          <a:solidFill>
            <a:srgbClr val="F7FAFC"/>
          </a:solidFill>
          <a:ln w="19050">
            <a:solidFill>
              <a:srgbClr val="13A89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793939" y="2216150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3A8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445500" y="2152650"/>
            <a:ext cx="177800" cy="228599"/>
            <a:chOff x="8445500" y="2152650"/>
            <a:chExt cx="177800" cy="228599"/>
          </a:xfrm>
        </p:grpSpPr>
        <p:sp>
          <p:nvSpPr>
            <p:cNvPr id="14" name="Freeform 14"/>
            <p:cNvSpPr/>
            <p:nvPr/>
          </p:nvSpPr>
          <p:spPr>
            <a:xfrm>
              <a:off x="8559800" y="215265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0"/>
                  </a:moveTo>
                  <a:lnTo>
                    <a:pt x="0" y="50800"/>
                  </a:lnTo>
                  <a:cubicBezTo>
                    <a:pt x="0" y="57814"/>
                    <a:pt x="5686" y="63500"/>
                    <a:pt x="12700" y="63500"/>
                  </a:cubicBezTo>
                  <a:lnTo>
                    <a:pt x="63500" y="6350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445500" y="2152650"/>
              <a:ext cx="177800" cy="228599"/>
            </a:xfrm>
            <a:custGeom>
              <a:avLst/>
              <a:gdLst/>
              <a:ahLst/>
              <a:cxnLst/>
              <a:rect l="l" t="t" r="r" b="b"/>
              <a:pathLst>
                <a:path w="177800" h="228599">
                  <a:moveTo>
                    <a:pt x="152400" y="228599"/>
                  </a:moveTo>
                  <a:lnTo>
                    <a:pt x="25400" y="228599"/>
                  </a:lnTo>
                  <a:cubicBezTo>
                    <a:pt x="11372" y="228599"/>
                    <a:pt x="0" y="217227"/>
                    <a:pt x="0" y="203199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114300" y="0"/>
                  </a:lnTo>
                  <a:lnTo>
                    <a:pt x="177800" y="63500"/>
                  </a:lnTo>
                  <a:lnTo>
                    <a:pt x="177800" y="203199"/>
                  </a:lnTo>
                  <a:cubicBezTo>
                    <a:pt x="177800" y="217227"/>
                    <a:pt x="166428" y="228599"/>
                    <a:pt x="152400" y="228599"/>
                  </a:cubicBez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496300" y="2228850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12700" h="9525">
                  <a:moveTo>
                    <a:pt x="0" y="0"/>
                  </a:moveTo>
                  <a:lnTo>
                    <a:pt x="12700" y="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496300" y="22796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496300" y="2330449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8830056" y="207962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校园通知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32342" y="2425700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粘贴或导入</a:t>
            </a:r>
          </a:p>
        </p:txBody>
      </p:sp>
      <p:sp>
        <p:nvSpPr>
          <p:cNvPr id="22" name="Ellipse 22"/>
          <p:cNvSpPr/>
          <p:nvPr/>
        </p:nvSpPr>
        <p:spPr>
          <a:xfrm>
            <a:off x="7696200" y="3333750"/>
            <a:ext cx="419100" cy="419100"/>
          </a:xfrm>
          <a:prstGeom prst="ellipse">
            <a:avLst/>
          </a:prstGeom>
          <a:solidFill>
            <a:srgbClr val="F7FAFC"/>
          </a:solidFill>
          <a:ln w="19050">
            <a:solidFill>
              <a:srgbClr val="13A89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793939" y="3435350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3A8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Freeform 24"/>
          <p:cNvSpPr/>
          <p:nvPr/>
        </p:nvSpPr>
        <p:spPr>
          <a:xfrm>
            <a:off x="8420100" y="3384550"/>
            <a:ext cx="215899" cy="203199"/>
          </a:xfrm>
          <a:custGeom>
            <a:avLst/>
            <a:gdLst/>
            <a:ahLst/>
            <a:cxnLst/>
            <a:rect l="l" t="t" r="r" b="b"/>
            <a:pathLst>
              <a:path w="215899" h="203199">
                <a:moveTo>
                  <a:pt x="165100" y="177800"/>
                </a:moveTo>
                <a:cubicBezTo>
                  <a:pt x="179128" y="177800"/>
                  <a:pt x="190500" y="189171"/>
                  <a:pt x="190500" y="203199"/>
                </a:cubicBezTo>
                <a:cubicBezTo>
                  <a:pt x="190500" y="189171"/>
                  <a:pt x="201871" y="177800"/>
                  <a:pt x="215899" y="177800"/>
                </a:cubicBezTo>
                <a:cubicBezTo>
                  <a:pt x="201871" y="177800"/>
                  <a:pt x="190500" y="166428"/>
                  <a:pt x="190500" y="152400"/>
                </a:cubicBezTo>
                <a:cubicBezTo>
                  <a:pt x="190500" y="166428"/>
                  <a:pt x="179128" y="177800"/>
                  <a:pt x="165100" y="177800"/>
                </a:cubicBezTo>
                <a:moveTo>
                  <a:pt x="165100" y="25400"/>
                </a:moveTo>
                <a:cubicBezTo>
                  <a:pt x="179128" y="25400"/>
                  <a:pt x="190500" y="36772"/>
                  <a:pt x="190500" y="50800"/>
                </a:cubicBezTo>
                <a:cubicBezTo>
                  <a:pt x="190500" y="36772"/>
                  <a:pt x="201871" y="25400"/>
                  <a:pt x="215899" y="25400"/>
                </a:cubicBezTo>
                <a:cubicBezTo>
                  <a:pt x="201871" y="25400"/>
                  <a:pt x="190500" y="14028"/>
                  <a:pt x="190500" y="0"/>
                </a:cubicBezTo>
                <a:cubicBezTo>
                  <a:pt x="190500" y="14028"/>
                  <a:pt x="179128" y="25400"/>
                  <a:pt x="165100" y="25400"/>
                </a:cubicBezTo>
                <a:moveTo>
                  <a:pt x="76200" y="177800"/>
                </a:moveTo>
                <a:cubicBezTo>
                  <a:pt x="76200" y="135716"/>
                  <a:pt x="110316" y="101600"/>
                  <a:pt x="152400" y="101600"/>
                </a:cubicBezTo>
                <a:cubicBezTo>
                  <a:pt x="110316" y="101600"/>
                  <a:pt x="76200" y="67484"/>
                  <a:pt x="76200" y="25400"/>
                </a:cubicBezTo>
                <a:cubicBezTo>
                  <a:pt x="76200" y="67484"/>
                  <a:pt x="42084" y="101600"/>
                  <a:pt x="0" y="101600"/>
                </a:cubicBezTo>
                <a:cubicBezTo>
                  <a:pt x="42084" y="101600"/>
                  <a:pt x="76200" y="135716"/>
                  <a:pt x="76200" y="177800"/>
                </a:cubicBezTo>
              </a:path>
            </a:pathLst>
          </a:custGeom>
          <a:noFill/>
          <a:ln w="25400">
            <a:solidFill>
              <a:srgbClr val="13A89E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830056" y="3298825"/>
            <a:ext cx="73142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AI建议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32342" y="3644900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深读并给出出处</a:t>
            </a:r>
          </a:p>
        </p:txBody>
      </p:sp>
      <p:sp>
        <p:nvSpPr>
          <p:cNvPr id="27" name="Ellipse 27"/>
          <p:cNvSpPr/>
          <p:nvPr/>
        </p:nvSpPr>
        <p:spPr>
          <a:xfrm>
            <a:off x="7696200" y="4552950"/>
            <a:ext cx="419100" cy="419100"/>
          </a:xfrm>
          <a:prstGeom prst="ellipse">
            <a:avLst/>
          </a:prstGeom>
          <a:solidFill>
            <a:srgbClr val="F7FAFC"/>
          </a:solidFill>
          <a:ln w="19050">
            <a:solidFill>
              <a:srgbClr val="13A89E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793939" y="4654550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3A8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8458200" y="4591050"/>
            <a:ext cx="190500" cy="228600"/>
            <a:chOff x="8458200" y="4591050"/>
            <a:chExt cx="190500" cy="228600"/>
          </a:xfrm>
        </p:grpSpPr>
        <p:sp>
          <p:nvSpPr>
            <p:cNvPr id="29" name="Freeform 29"/>
            <p:cNvSpPr/>
            <p:nvPr/>
          </p:nvSpPr>
          <p:spPr>
            <a:xfrm>
              <a:off x="8483600" y="459105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50800"/>
                  </a:move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ubicBezTo>
                    <a:pt x="22744" y="0"/>
                    <a:pt x="0" y="22744"/>
                    <a:pt x="0" y="50800"/>
                  </a:cubicBez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458200" y="4743450"/>
              <a:ext cx="101600" cy="76200"/>
            </a:xfrm>
            <a:custGeom>
              <a:avLst/>
              <a:gdLst/>
              <a:ahLst/>
              <a:cxnLst/>
              <a:rect l="l" t="t" r="r" b="b"/>
              <a:pathLst>
                <a:path w="101600" h="76200">
                  <a:moveTo>
                    <a:pt x="0" y="76200"/>
                  </a:move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lnTo>
                    <a:pt x="101600" y="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572500" y="4768849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0" y="25400"/>
                  </a:moveTo>
                  <a:lnTo>
                    <a:pt x="25400" y="50800"/>
                  </a:lnTo>
                  <a:lnTo>
                    <a:pt x="76200" y="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8830056" y="451802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学生确认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32342" y="4864100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核对后保存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5142" y="6407150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版本 0.3.8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942" y="254000"/>
            <a:ext cx="11700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01 / 问题定义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99431" y="25400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9798" y="685800"/>
            <a:ext cx="596874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一条通知里，行动信息常常分散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409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31342" y="1644650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2B451"/>
                </a:solidFill>
                <a:latin typeface="Arial"/>
                <a:ea typeface="Microsoft YaHei"/>
                <a:cs typeface="Arial"/>
              </a:rPr>
              <a:t>课程演示用合成通知</a:t>
            </a:r>
          </a:p>
        </p:txBody>
      </p:sp>
      <p:sp>
        <p:nvSpPr>
          <p:cNvPr id="7" name="Rectangle 7"/>
          <p:cNvSpPr/>
          <p:nvPr/>
        </p:nvSpPr>
        <p:spPr>
          <a:xfrm>
            <a:off x="838200" y="2047875"/>
            <a:ext cx="1051560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38200" y="2047875"/>
            <a:ext cx="47625" cy="1009650"/>
          </a:xfrm>
          <a:prstGeom prst="rect">
            <a:avLst/>
          </a:prstGeom>
          <a:solidFill>
            <a:srgbClr val="13A89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33856" y="2193925"/>
            <a:ext cx="6373368" cy="694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700"/>
              </a:lnSpc>
            </a:pP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请于2026年10月23日18:00前提交课程项目书PDF至教学平台。</a:t>
            </a:r>
            <a:b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另请参加项目答疑，具体时间另行通知。</a:t>
            </a:r>
          </a:p>
        </p:txBody>
      </p:sp>
      <p:sp>
        <p:nvSpPr>
          <p:cNvPr id="10" name="Line 10"/>
          <p:cNvSpPr/>
          <p:nvPr/>
        </p:nvSpPr>
        <p:spPr>
          <a:xfrm>
            <a:off x="838200" y="3476625"/>
            <a:ext cx="10515600" cy="9525"/>
          </a:xfrm>
          <a:custGeom>
            <a:avLst/>
            <a:gdLst/>
            <a:ahLst/>
            <a:cxnLst/>
            <a:rect l="l" t="t" r="r" b="b"/>
            <a:pathLst>
              <a:path w="10515600" h="9525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962819" y="3802856"/>
            <a:ext cx="188913" cy="242888"/>
            <a:chOff x="962819" y="3802856"/>
            <a:chExt cx="188913" cy="242888"/>
          </a:xfrm>
        </p:grpSpPr>
        <p:sp>
          <p:nvSpPr>
            <p:cNvPr id="11" name="Freeform 11"/>
            <p:cNvSpPr/>
            <p:nvPr/>
          </p:nvSpPr>
          <p:spPr>
            <a:xfrm>
              <a:off x="1084263" y="3802856"/>
              <a:ext cx="67469" cy="67469"/>
            </a:xfrm>
            <a:custGeom>
              <a:avLst/>
              <a:gdLst/>
              <a:ahLst/>
              <a:cxnLst/>
              <a:rect l="l" t="t" r="r" b="b"/>
              <a:pathLst>
                <a:path w="67469" h="67469">
                  <a:moveTo>
                    <a:pt x="0" y="0"/>
                  </a:moveTo>
                  <a:lnTo>
                    <a:pt x="0" y="53975"/>
                  </a:lnTo>
                  <a:cubicBezTo>
                    <a:pt x="0" y="61428"/>
                    <a:pt x="6041" y="67469"/>
                    <a:pt x="13494" y="67469"/>
                  </a:cubicBezTo>
                  <a:lnTo>
                    <a:pt x="67469" y="67469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62819" y="3802856"/>
              <a:ext cx="188913" cy="242888"/>
            </a:xfrm>
            <a:custGeom>
              <a:avLst/>
              <a:gdLst/>
              <a:ahLst/>
              <a:cxnLst/>
              <a:rect l="l" t="t" r="r" b="b"/>
              <a:pathLst>
                <a:path w="188913" h="242888">
                  <a:moveTo>
                    <a:pt x="161925" y="242888"/>
                  </a:moveTo>
                  <a:lnTo>
                    <a:pt x="26988" y="242888"/>
                  </a:lnTo>
                  <a:cubicBezTo>
                    <a:pt x="12083" y="242888"/>
                    <a:pt x="0" y="230805"/>
                    <a:pt x="0" y="215901"/>
                  </a:cubicBezTo>
                  <a:lnTo>
                    <a:pt x="0" y="26988"/>
                  </a:lnTo>
                  <a:cubicBezTo>
                    <a:pt x="0" y="12083"/>
                    <a:pt x="12083" y="0"/>
                    <a:pt x="26988" y="0"/>
                  </a:cubicBezTo>
                  <a:lnTo>
                    <a:pt x="121444" y="0"/>
                  </a:lnTo>
                  <a:lnTo>
                    <a:pt x="188913" y="67469"/>
                  </a:lnTo>
                  <a:lnTo>
                    <a:pt x="188913" y="215901"/>
                  </a:lnTo>
                  <a:cubicBezTo>
                    <a:pt x="188913" y="230805"/>
                    <a:pt x="176830" y="242888"/>
                    <a:pt x="161925" y="242888"/>
                  </a:cubicBez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16794" y="3883819"/>
              <a:ext cx="13494" cy="9525"/>
            </a:xfrm>
            <a:custGeom>
              <a:avLst/>
              <a:gdLst/>
              <a:ahLst/>
              <a:cxnLst/>
              <a:rect l="l" t="t" r="r" b="b"/>
              <a:pathLst>
                <a:path w="13494" h="9525">
                  <a:moveTo>
                    <a:pt x="0" y="0"/>
                  </a:moveTo>
                  <a:lnTo>
                    <a:pt x="13494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16794" y="3937794"/>
              <a:ext cx="80963" cy="9525"/>
            </a:xfrm>
            <a:custGeom>
              <a:avLst/>
              <a:gdLst/>
              <a:ahLst/>
              <a:cxnLst/>
              <a:rect l="l" t="t" r="r" b="b"/>
              <a:pathLst>
                <a:path w="80963" h="9525">
                  <a:moveTo>
                    <a:pt x="0" y="0"/>
                  </a:moveTo>
                  <a:lnTo>
                    <a:pt x="80963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16794" y="3991769"/>
              <a:ext cx="80963" cy="9525"/>
            </a:xfrm>
            <a:custGeom>
              <a:avLst/>
              <a:gdLst/>
              <a:ahLst/>
              <a:cxnLst/>
              <a:rect l="l" t="t" r="r" b="b"/>
              <a:pathLst>
                <a:path w="80963" h="9525">
                  <a:moveTo>
                    <a:pt x="0" y="0"/>
                  </a:moveTo>
                  <a:lnTo>
                    <a:pt x="80963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402842" y="377825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要做什么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0556" y="4108450"/>
            <a:ext cx="175409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提交项目书 PDF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9525" y="3802856"/>
            <a:ext cx="242889" cy="256383"/>
            <a:chOff x="6359525" y="3802856"/>
            <a:chExt cx="242889" cy="256383"/>
          </a:xfrm>
        </p:grpSpPr>
        <p:sp>
          <p:nvSpPr>
            <p:cNvPr id="19" name="Freeform 19"/>
            <p:cNvSpPr/>
            <p:nvPr/>
          </p:nvSpPr>
          <p:spPr>
            <a:xfrm>
              <a:off x="6359525" y="3829844"/>
              <a:ext cx="215901" cy="215901"/>
            </a:xfrm>
            <a:custGeom>
              <a:avLst/>
              <a:gdLst/>
              <a:ahLst/>
              <a:cxnLst/>
              <a:rect l="l" t="t" r="r" b="b"/>
              <a:pathLst>
                <a:path w="215901" h="215901">
                  <a:moveTo>
                    <a:pt x="114697" y="215901"/>
                  </a:moveTo>
                  <a:lnTo>
                    <a:pt x="26988" y="215901"/>
                  </a:lnTo>
                  <a:cubicBezTo>
                    <a:pt x="12083" y="215901"/>
                    <a:pt x="0" y="203818"/>
                    <a:pt x="0" y="188913"/>
                  </a:cubicBezTo>
                  <a:lnTo>
                    <a:pt x="0" y="26988"/>
                  </a:lnTo>
                  <a:cubicBezTo>
                    <a:pt x="0" y="12083"/>
                    <a:pt x="12083" y="0"/>
                    <a:pt x="26988" y="0"/>
                  </a:cubicBezTo>
                  <a:lnTo>
                    <a:pt x="188913" y="0"/>
                  </a:lnTo>
                  <a:cubicBezTo>
                    <a:pt x="203818" y="0"/>
                    <a:pt x="215901" y="12083"/>
                    <a:pt x="215901" y="26988"/>
                  </a:cubicBezTo>
                  <a:lnTo>
                    <a:pt x="215901" y="94456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521451" y="3802856"/>
              <a:ext cx="9525" cy="53975"/>
            </a:xfrm>
            <a:custGeom>
              <a:avLst/>
              <a:gdLst/>
              <a:ahLst/>
              <a:cxnLst/>
              <a:rect l="l" t="t" r="r" b="b"/>
              <a:pathLst>
                <a:path w="9525" h="53975">
                  <a:moveTo>
                    <a:pt x="0" y="0"/>
                  </a:moveTo>
                  <a:lnTo>
                    <a:pt x="0" y="53975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413500" y="3802856"/>
              <a:ext cx="9525" cy="53975"/>
            </a:xfrm>
            <a:custGeom>
              <a:avLst/>
              <a:gdLst/>
              <a:ahLst/>
              <a:cxnLst/>
              <a:rect l="l" t="t" r="r" b="b"/>
              <a:pathLst>
                <a:path w="9525" h="53975">
                  <a:moveTo>
                    <a:pt x="0" y="0"/>
                  </a:moveTo>
                  <a:lnTo>
                    <a:pt x="0" y="53975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359525" y="3910807"/>
              <a:ext cx="215901" cy="9525"/>
            </a:xfrm>
            <a:custGeom>
              <a:avLst/>
              <a:gdLst/>
              <a:ahLst/>
              <a:cxnLst/>
              <a:rect l="l" t="t" r="r" b="b"/>
              <a:pathLst>
                <a:path w="215901" h="9525">
                  <a:moveTo>
                    <a:pt x="0" y="0"/>
                  </a:moveTo>
                  <a:lnTo>
                    <a:pt x="215901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521451" y="4018757"/>
              <a:ext cx="80963" cy="9525"/>
            </a:xfrm>
            <a:custGeom>
              <a:avLst/>
              <a:gdLst/>
              <a:ahLst/>
              <a:cxnLst/>
              <a:rect l="l" t="t" r="r" b="b"/>
              <a:pathLst>
                <a:path w="80963" h="9525">
                  <a:moveTo>
                    <a:pt x="0" y="0"/>
                  </a:moveTo>
                  <a:lnTo>
                    <a:pt x="80963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561932" y="3978276"/>
              <a:ext cx="9525" cy="80963"/>
            </a:xfrm>
            <a:custGeom>
              <a:avLst/>
              <a:gdLst/>
              <a:ahLst/>
              <a:cxnLst/>
              <a:rect l="l" t="t" r="r" b="b"/>
              <a:pathLst>
                <a:path w="9525" h="80963">
                  <a:moveTo>
                    <a:pt x="0" y="0"/>
                  </a:moveTo>
                  <a:lnTo>
                    <a:pt x="0" y="80963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793992" y="377825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何时完成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91706" y="4108450"/>
            <a:ext cx="183868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10月23日 18:00</a:t>
            </a:r>
          </a:p>
        </p:txBody>
      </p:sp>
      <p:sp>
        <p:nvSpPr>
          <p:cNvPr id="28" name="Line 28"/>
          <p:cNvSpPr/>
          <p:nvPr/>
        </p:nvSpPr>
        <p:spPr>
          <a:xfrm>
            <a:off x="838200" y="4714875"/>
            <a:ext cx="10515600" cy="9525"/>
          </a:xfrm>
          <a:custGeom>
            <a:avLst/>
            <a:gdLst/>
            <a:ahLst/>
            <a:cxnLst/>
            <a:rect l="l" t="t" r="r" b="b"/>
            <a:pathLst>
              <a:path w="10515600" h="9525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962819" y="5026025"/>
            <a:ext cx="202407" cy="229394"/>
            <a:chOff x="962819" y="5026025"/>
            <a:chExt cx="202407" cy="229394"/>
          </a:xfrm>
        </p:grpSpPr>
        <p:sp>
          <p:nvSpPr>
            <p:cNvPr id="29" name="Freeform 29"/>
            <p:cNvSpPr/>
            <p:nvPr/>
          </p:nvSpPr>
          <p:spPr>
            <a:xfrm>
              <a:off x="962819" y="5026025"/>
              <a:ext cx="161925" cy="215901"/>
            </a:xfrm>
            <a:custGeom>
              <a:avLst/>
              <a:gdLst/>
              <a:ahLst/>
              <a:cxnLst/>
              <a:rect l="l" t="t" r="r" b="b"/>
              <a:pathLst>
                <a:path w="161925" h="215901">
                  <a:moveTo>
                    <a:pt x="62274" y="215901"/>
                  </a:moveTo>
                  <a:lnTo>
                    <a:pt x="26988" y="215901"/>
                  </a:lnTo>
                  <a:cubicBezTo>
                    <a:pt x="12083" y="215901"/>
                    <a:pt x="0" y="203818"/>
                    <a:pt x="0" y="188913"/>
                  </a:cubicBezTo>
                  <a:lnTo>
                    <a:pt x="0" y="26988"/>
                  </a:lnTo>
                  <a:cubicBezTo>
                    <a:pt x="0" y="12083"/>
                    <a:pt x="12083" y="0"/>
                    <a:pt x="26988" y="0"/>
                  </a:cubicBezTo>
                  <a:lnTo>
                    <a:pt x="134938" y="0"/>
                  </a:lnTo>
                  <a:cubicBezTo>
                    <a:pt x="149843" y="0"/>
                    <a:pt x="161925" y="12083"/>
                    <a:pt x="161925" y="26988"/>
                  </a:cubicBezTo>
                  <a:lnTo>
                    <a:pt x="161925" y="134938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84263" y="5201444"/>
              <a:ext cx="80963" cy="53975"/>
            </a:xfrm>
            <a:custGeom>
              <a:avLst/>
              <a:gdLst/>
              <a:ahLst/>
              <a:cxnLst/>
              <a:rect l="l" t="t" r="r" b="b"/>
              <a:pathLst>
                <a:path w="80963" h="53975">
                  <a:moveTo>
                    <a:pt x="0" y="26988"/>
                  </a:moveTo>
                  <a:lnTo>
                    <a:pt x="26988" y="53975"/>
                  </a:lnTo>
                  <a:lnTo>
                    <a:pt x="80963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16794" y="5080000"/>
              <a:ext cx="53975" cy="9525"/>
            </a:xfrm>
            <a:custGeom>
              <a:avLst/>
              <a:gdLst/>
              <a:ahLst/>
              <a:cxnLst/>
              <a:rect l="l" t="t" r="r" b="b"/>
              <a:pathLst>
                <a:path w="53975" h="9525">
                  <a:moveTo>
                    <a:pt x="0" y="0"/>
                  </a:moveTo>
                  <a:lnTo>
                    <a:pt x="53975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16794" y="5133975"/>
              <a:ext cx="26988" cy="9525"/>
            </a:xfrm>
            <a:custGeom>
              <a:avLst/>
              <a:gdLst/>
              <a:ahLst/>
              <a:cxnLst/>
              <a:rect l="l" t="t" r="r" b="b"/>
              <a:pathLst>
                <a:path w="26988" h="9525">
                  <a:moveTo>
                    <a:pt x="0" y="0"/>
                  </a:moveTo>
                  <a:lnTo>
                    <a:pt x="26988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402842" y="499745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交到哪里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00556" y="532765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教学平台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331389" y="5008048"/>
            <a:ext cx="272162" cy="233823"/>
            <a:chOff x="6331389" y="5008048"/>
            <a:chExt cx="272162" cy="233823"/>
          </a:xfrm>
        </p:grpSpPr>
        <p:sp>
          <p:nvSpPr>
            <p:cNvPr id="36" name="Freeform 36"/>
            <p:cNvSpPr/>
            <p:nvPr/>
          </p:nvSpPr>
          <p:spPr>
            <a:xfrm>
              <a:off x="6467475" y="5093494"/>
              <a:ext cx="9525" cy="53975"/>
            </a:xfrm>
            <a:custGeom>
              <a:avLst/>
              <a:gdLst/>
              <a:ahLst/>
              <a:cxnLst/>
              <a:rect l="l" t="t" r="r" b="b"/>
              <a:pathLst>
                <a:path w="9525" h="53975">
                  <a:moveTo>
                    <a:pt x="0" y="0"/>
                  </a:moveTo>
                  <a:lnTo>
                    <a:pt x="0" y="53975"/>
                  </a:lnTo>
                </a:path>
              </a:pathLst>
            </a:custGeom>
            <a:noFill/>
            <a:ln w="26988">
              <a:solidFill>
                <a:srgbClr val="F2B451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331389" y="5008048"/>
              <a:ext cx="272162" cy="233823"/>
            </a:xfrm>
            <a:custGeom>
              <a:avLst/>
              <a:gdLst/>
              <a:ahLst/>
              <a:cxnLst/>
              <a:rect l="l" t="t" r="r" b="b"/>
              <a:pathLst>
                <a:path w="272162" h="233823">
                  <a:moveTo>
                    <a:pt x="113997" y="12458"/>
                  </a:moveTo>
                  <a:lnTo>
                    <a:pt x="4616" y="195083"/>
                  </a:lnTo>
                  <a:cubicBezTo>
                    <a:pt x="28" y="203029"/>
                    <a:pt x="0" y="212812"/>
                    <a:pt x="4543" y="220785"/>
                  </a:cubicBezTo>
                  <a:cubicBezTo>
                    <a:pt x="9086" y="228757"/>
                    <a:pt x="17517" y="233720"/>
                    <a:pt x="26692" y="233823"/>
                  </a:cubicBezTo>
                  <a:lnTo>
                    <a:pt x="245480" y="233823"/>
                  </a:lnTo>
                  <a:cubicBezTo>
                    <a:pt x="254651" y="233717"/>
                    <a:pt x="263078" y="228756"/>
                    <a:pt x="267620" y="220788"/>
                  </a:cubicBezTo>
                  <a:cubicBezTo>
                    <a:pt x="272162" y="212820"/>
                    <a:pt x="272138" y="203041"/>
                    <a:pt x="267556" y="195096"/>
                  </a:cubicBezTo>
                  <a:lnTo>
                    <a:pt x="158176" y="12444"/>
                  </a:lnTo>
                  <a:cubicBezTo>
                    <a:pt x="153495" y="4719"/>
                    <a:pt x="145119" y="0"/>
                    <a:pt x="136086" y="0"/>
                  </a:cubicBezTo>
                  <a:cubicBezTo>
                    <a:pt x="127054" y="0"/>
                    <a:pt x="118677" y="4719"/>
                    <a:pt x="113997" y="12444"/>
                  </a:cubicBezTo>
                </a:path>
              </a:pathLst>
            </a:custGeom>
            <a:noFill/>
            <a:ln w="26988">
              <a:solidFill>
                <a:srgbClr val="F2B451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467475" y="518795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35" y="0"/>
                  </a:lnTo>
                </a:path>
              </a:pathLst>
            </a:custGeom>
            <a:noFill/>
            <a:ln w="26988">
              <a:solidFill>
                <a:srgbClr val="F2B451"/>
              </a:solidFill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6793992" y="499745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尚未说明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91706" y="5327650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答疑时间待确认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1342" y="5845175"/>
            <a:ext cx="44048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H5首页展示粘贴和文档入口；示例内容仍由用户核对。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9982200" y="1504950"/>
            <a:ext cx="1181100" cy="4762500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</p:sp>
      <p:pic>
        <p:nvPicPr>
          <p:cNvPr id="44" name="Imag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524000"/>
            <a:ext cx="1143000" cy="4724400"/>
          </a:xfrm>
          <a:prstGeom prst="rect">
            <a:avLst/>
          </a:prstGeom>
        </p:spPr>
      </p:pic>
      <p:sp>
        <p:nvSpPr>
          <p:cNvPr id="45" name="Line 45"/>
          <p:cNvSpPr/>
          <p:nvPr/>
        </p:nvSpPr>
        <p:spPr>
          <a:xfrm>
            <a:off x="685800" y="635317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78942" y="6473825"/>
            <a:ext cx="276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知行 · 智能移动应用开发项目实践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90523" y="6473825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942" y="254000"/>
            <a:ext cx="11700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02 / 产品闭环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99431" y="25400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9798" y="685800"/>
            <a:ext cx="55446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知行把模型建议交给学生核验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409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29056" y="1651000"/>
            <a:ext cx="508223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AI提出候选行动；用户确认后才进入本机待办。</a:t>
            </a:r>
          </a:p>
        </p:txBody>
      </p:sp>
      <p:sp>
        <p:nvSpPr>
          <p:cNvPr id="7" name="Line 7"/>
          <p:cNvSpPr/>
          <p:nvPr/>
        </p:nvSpPr>
        <p:spPr>
          <a:xfrm>
            <a:off x="1409700" y="2781300"/>
            <a:ext cx="8839200" cy="9525"/>
          </a:xfrm>
          <a:custGeom>
            <a:avLst/>
            <a:gdLst/>
            <a:ahLst/>
            <a:cxnLst/>
            <a:rect l="l" t="t" r="r" b="b"/>
            <a:pathLst>
              <a:path w="8839200" h="9525">
                <a:moveTo>
                  <a:pt x="0" y="0"/>
                </a:moveTo>
                <a:lnTo>
                  <a:pt x="8839200" y="0"/>
                </a:lnTo>
              </a:path>
            </a:pathLst>
          </a:custGeom>
          <a:noFill/>
          <a:ln w="28575">
            <a:solidFill>
              <a:srgbClr val="D5E1E8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447800" y="251460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A89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602689" y="2682875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3A8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03375" y="3390900"/>
            <a:ext cx="222250" cy="285751"/>
            <a:chOff x="1603375" y="3390900"/>
            <a:chExt cx="222250" cy="285751"/>
          </a:xfrm>
        </p:grpSpPr>
        <p:sp>
          <p:nvSpPr>
            <p:cNvPr id="10" name="Freeform 10"/>
            <p:cNvSpPr/>
            <p:nvPr/>
          </p:nvSpPr>
          <p:spPr>
            <a:xfrm>
              <a:off x="1746250" y="3390900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0" y="0"/>
                  </a:moveTo>
                  <a:lnTo>
                    <a:pt x="0" y="63500"/>
                  </a:lnTo>
                  <a:cubicBezTo>
                    <a:pt x="0" y="72268"/>
                    <a:pt x="7107" y="79375"/>
                    <a:pt x="15875" y="79375"/>
                  </a:cubicBezTo>
                  <a:lnTo>
                    <a:pt x="79375" y="79375"/>
                  </a:ln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03375" y="3390900"/>
              <a:ext cx="222250" cy="285751"/>
            </a:xfrm>
            <a:custGeom>
              <a:avLst/>
              <a:gdLst/>
              <a:ahLst/>
              <a:cxnLst/>
              <a:rect l="l" t="t" r="r" b="b"/>
              <a:pathLst>
                <a:path w="222250" h="285751">
                  <a:moveTo>
                    <a:pt x="190500" y="285751"/>
                  </a:moveTo>
                  <a:lnTo>
                    <a:pt x="31750" y="285751"/>
                  </a:lnTo>
                  <a:cubicBezTo>
                    <a:pt x="14215" y="285751"/>
                    <a:pt x="0" y="271536"/>
                    <a:pt x="0" y="254001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lnTo>
                    <a:pt x="142875" y="0"/>
                  </a:lnTo>
                  <a:lnTo>
                    <a:pt x="222250" y="79375"/>
                  </a:lnTo>
                  <a:lnTo>
                    <a:pt x="222250" y="254001"/>
                  </a:lnTo>
                  <a:cubicBezTo>
                    <a:pt x="222250" y="271536"/>
                    <a:pt x="208035" y="285751"/>
                    <a:pt x="190500" y="285751"/>
                  </a:cubicBez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66875" y="3486150"/>
              <a:ext cx="15875" cy="9525"/>
            </a:xfrm>
            <a:custGeom>
              <a:avLst/>
              <a:gdLst/>
              <a:ahLst/>
              <a:cxnLst/>
              <a:rect l="l" t="t" r="r" b="b"/>
              <a:pathLst>
                <a:path w="15875" h="9525">
                  <a:moveTo>
                    <a:pt x="0" y="0"/>
                  </a:moveTo>
                  <a:lnTo>
                    <a:pt x="15875" y="0"/>
                  </a:ln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666875" y="3549650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66875" y="3613151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220724" y="381317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输入通知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9017" y="4235450"/>
            <a:ext cx="870966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粘贴文本</a:t>
            </a:r>
            <a:b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或导入文档</a:t>
            </a:r>
          </a:p>
        </p:txBody>
      </p:sp>
      <p:sp>
        <p:nvSpPr>
          <p:cNvPr id="18" name="Ellipse 18"/>
          <p:cNvSpPr/>
          <p:nvPr/>
        </p:nvSpPr>
        <p:spPr>
          <a:xfrm>
            <a:off x="3562350" y="251460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A89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717239" y="2682875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3A8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Freeform 20"/>
          <p:cNvSpPr/>
          <p:nvPr/>
        </p:nvSpPr>
        <p:spPr>
          <a:xfrm>
            <a:off x="3686175" y="3406775"/>
            <a:ext cx="269876" cy="254001"/>
          </a:xfrm>
          <a:custGeom>
            <a:avLst/>
            <a:gdLst/>
            <a:ahLst/>
            <a:cxnLst/>
            <a:rect l="l" t="t" r="r" b="b"/>
            <a:pathLst>
              <a:path w="269876" h="254001">
                <a:moveTo>
                  <a:pt x="206375" y="222250"/>
                </a:moveTo>
                <a:cubicBezTo>
                  <a:pt x="223910" y="222250"/>
                  <a:pt x="238125" y="236465"/>
                  <a:pt x="238125" y="254001"/>
                </a:cubicBezTo>
                <a:cubicBezTo>
                  <a:pt x="238125" y="236465"/>
                  <a:pt x="252340" y="222250"/>
                  <a:pt x="269876" y="222250"/>
                </a:cubicBezTo>
                <a:cubicBezTo>
                  <a:pt x="252340" y="222250"/>
                  <a:pt x="238125" y="208035"/>
                  <a:pt x="238125" y="190500"/>
                </a:cubicBezTo>
                <a:cubicBezTo>
                  <a:pt x="238125" y="208035"/>
                  <a:pt x="223910" y="222250"/>
                  <a:pt x="206375" y="222250"/>
                </a:cubicBezTo>
                <a:moveTo>
                  <a:pt x="206375" y="31750"/>
                </a:moveTo>
                <a:cubicBezTo>
                  <a:pt x="223910" y="31750"/>
                  <a:pt x="238125" y="45965"/>
                  <a:pt x="238125" y="63500"/>
                </a:cubicBezTo>
                <a:cubicBezTo>
                  <a:pt x="238125" y="45965"/>
                  <a:pt x="252340" y="31750"/>
                  <a:pt x="269876" y="31750"/>
                </a:cubicBezTo>
                <a:cubicBezTo>
                  <a:pt x="252340" y="31750"/>
                  <a:pt x="238125" y="17535"/>
                  <a:pt x="238125" y="0"/>
                </a:cubicBezTo>
                <a:cubicBezTo>
                  <a:pt x="238125" y="17535"/>
                  <a:pt x="223910" y="31750"/>
                  <a:pt x="206375" y="31750"/>
                </a:cubicBezTo>
                <a:moveTo>
                  <a:pt x="95250" y="222250"/>
                </a:moveTo>
                <a:cubicBezTo>
                  <a:pt x="95250" y="169645"/>
                  <a:pt x="137895" y="127000"/>
                  <a:pt x="190500" y="127000"/>
                </a:cubicBezTo>
                <a:cubicBezTo>
                  <a:pt x="137895" y="127000"/>
                  <a:pt x="95250" y="84355"/>
                  <a:pt x="95250" y="31750"/>
                </a:cubicBezTo>
                <a:cubicBezTo>
                  <a:pt x="95250" y="84355"/>
                  <a:pt x="52605" y="127000"/>
                  <a:pt x="0" y="127000"/>
                </a:cubicBezTo>
                <a:cubicBezTo>
                  <a:pt x="52605" y="127000"/>
                  <a:pt x="95250" y="169645"/>
                  <a:pt x="95250" y="222250"/>
                </a:cubicBezTo>
              </a:path>
            </a:pathLst>
          </a:custGeom>
          <a:noFill/>
          <a:ln w="31750">
            <a:solidFill>
              <a:srgbClr val="12344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463336" y="3813175"/>
            <a:ext cx="73142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AI解析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07842" y="4235450"/>
            <a:ext cx="1042416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提取行动</a:t>
            </a:r>
            <a:b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生成深读建议</a:t>
            </a:r>
          </a:p>
        </p:txBody>
      </p:sp>
      <p:sp>
        <p:nvSpPr>
          <p:cNvPr id="23" name="Ellipse 23"/>
          <p:cNvSpPr/>
          <p:nvPr/>
        </p:nvSpPr>
        <p:spPr>
          <a:xfrm>
            <a:off x="5676900" y="251460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A89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831789" y="2682875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3A8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832475" y="3438525"/>
            <a:ext cx="222250" cy="190500"/>
            <a:chOff x="5832475" y="3438525"/>
            <a:chExt cx="222250" cy="190500"/>
          </a:xfrm>
        </p:grpSpPr>
        <p:sp>
          <p:nvSpPr>
            <p:cNvPr id="25" name="Freeform 25"/>
            <p:cNvSpPr/>
            <p:nvPr/>
          </p:nvSpPr>
          <p:spPr>
            <a:xfrm>
              <a:off x="5832475" y="3438525"/>
              <a:ext cx="79375" cy="190500"/>
            </a:xfrm>
            <a:custGeom>
              <a:avLst/>
              <a:gdLst/>
              <a:ahLst/>
              <a:cxnLst/>
              <a:rect l="l" t="t" r="r" b="b"/>
              <a:pathLst>
                <a:path w="79375" h="190500">
                  <a:moveTo>
                    <a:pt x="79375" y="79375"/>
                  </a:moveTo>
                  <a:lnTo>
                    <a:pt x="15875" y="79375"/>
                  </a:lnTo>
                  <a:cubicBezTo>
                    <a:pt x="7107" y="79375"/>
                    <a:pt x="0" y="72268"/>
                    <a:pt x="0" y="6350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lnTo>
                    <a:pt x="63500" y="0"/>
                  </a:lnTo>
                  <a:cubicBezTo>
                    <a:pt x="72268" y="0"/>
                    <a:pt x="79375" y="7107"/>
                    <a:pt x="79375" y="15875"/>
                  </a:cubicBezTo>
                  <a:lnTo>
                    <a:pt x="79375" y="111125"/>
                  </a:lnTo>
                  <a:cubicBezTo>
                    <a:pt x="79375" y="153464"/>
                    <a:pt x="58214" y="179912"/>
                    <a:pt x="15875" y="190500"/>
                  </a:cubicBez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975350" y="3438525"/>
              <a:ext cx="79375" cy="190500"/>
            </a:xfrm>
            <a:custGeom>
              <a:avLst/>
              <a:gdLst/>
              <a:ahLst/>
              <a:cxnLst/>
              <a:rect l="l" t="t" r="r" b="b"/>
              <a:pathLst>
                <a:path w="79375" h="190500">
                  <a:moveTo>
                    <a:pt x="79375" y="79375"/>
                  </a:moveTo>
                  <a:lnTo>
                    <a:pt x="15875" y="79375"/>
                  </a:lnTo>
                  <a:cubicBezTo>
                    <a:pt x="7107" y="79375"/>
                    <a:pt x="0" y="72268"/>
                    <a:pt x="0" y="6350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lnTo>
                    <a:pt x="63500" y="0"/>
                  </a:lnTo>
                  <a:cubicBezTo>
                    <a:pt x="72268" y="0"/>
                    <a:pt x="79375" y="7107"/>
                    <a:pt x="79375" y="15875"/>
                  </a:cubicBezTo>
                  <a:lnTo>
                    <a:pt x="79375" y="111125"/>
                  </a:lnTo>
                  <a:cubicBezTo>
                    <a:pt x="79375" y="153464"/>
                    <a:pt x="58214" y="179912"/>
                    <a:pt x="15875" y="190500"/>
                  </a:cubicBez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5449824" y="381317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原文核验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22392" y="4235450"/>
            <a:ext cx="1042416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查看摘句</a:t>
            </a:r>
            <a:b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修改候选字段</a:t>
            </a:r>
          </a:p>
        </p:txBody>
      </p:sp>
      <p:sp>
        <p:nvSpPr>
          <p:cNvPr id="30" name="Ellipse 30"/>
          <p:cNvSpPr/>
          <p:nvPr/>
        </p:nvSpPr>
        <p:spPr>
          <a:xfrm>
            <a:off x="7791450" y="2514600"/>
            <a:ext cx="533400" cy="533400"/>
          </a:xfrm>
          <a:prstGeom prst="ellipse">
            <a:avLst/>
          </a:prstGeom>
          <a:solidFill>
            <a:srgbClr val="13A89E"/>
          </a:solidFill>
          <a:ln w="19050">
            <a:solidFill>
              <a:srgbClr val="13A89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946339" y="2682875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962900" y="3390900"/>
            <a:ext cx="238125" cy="285751"/>
            <a:chOff x="7962900" y="3390900"/>
            <a:chExt cx="238125" cy="285751"/>
          </a:xfrm>
        </p:grpSpPr>
        <p:sp>
          <p:nvSpPr>
            <p:cNvPr id="32" name="Freeform 32"/>
            <p:cNvSpPr/>
            <p:nvPr/>
          </p:nvSpPr>
          <p:spPr>
            <a:xfrm>
              <a:off x="7994650" y="339090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</a:path>
              </a:pathLst>
            </a:custGeom>
            <a:noFill/>
            <a:ln w="31750">
              <a:solidFill>
                <a:srgbClr val="13A89E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962900" y="3581400"/>
              <a:ext cx="127000" cy="95250"/>
            </a:xfrm>
            <a:custGeom>
              <a:avLst/>
              <a:gdLst/>
              <a:ahLst/>
              <a:cxnLst/>
              <a:rect l="l" t="t" r="r" b="b"/>
              <a:pathLst>
                <a:path w="127000" h="95250">
                  <a:moveTo>
                    <a:pt x="0" y="95250"/>
                  </a:move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lnTo>
                    <a:pt x="127000" y="0"/>
                  </a:lnTo>
                </a:path>
              </a:pathLst>
            </a:custGeom>
            <a:noFill/>
            <a:ln w="31750">
              <a:solidFill>
                <a:srgbClr val="13A89E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05775" y="3613151"/>
              <a:ext cx="95250" cy="63500"/>
            </a:xfrm>
            <a:custGeom>
              <a:avLst/>
              <a:gdLst/>
              <a:ahLst/>
              <a:cxnLst/>
              <a:rect l="l" t="t" r="r" b="b"/>
              <a:pathLst>
                <a:path w="95250" h="63500">
                  <a:moveTo>
                    <a:pt x="0" y="31750"/>
                  </a:moveTo>
                  <a:lnTo>
                    <a:pt x="31750" y="63500"/>
                  </a:lnTo>
                  <a:lnTo>
                    <a:pt x="95250" y="0"/>
                  </a:lnTo>
                </a:path>
              </a:pathLst>
            </a:custGeom>
            <a:noFill/>
            <a:ln w="31750">
              <a:solidFill>
                <a:srgbClr val="13A89E"/>
              </a:solidFill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7564374" y="381317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人工确认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51217" y="4235450"/>
            <a:ext cx="1213866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勾选并保存</a:t>
            </a:r>
            <a:b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用户作最终决定</a:t>
            </a:r>
          </a:p>
        </p:txBody>
      </p:sp>
      <p:sp>
        <p:nvSpPr>
          <p:cNvPr id="38" name="Ellipse 38"/>
          <p:cNvSpPr/>
          <p:nvPr/>
        </p:nvSpPr>
        <p:spPr>
          <a:xfrm>
            <a:off x="9906000" y="251460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A89E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0060889" y="2682875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3A89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0061575" y="3406775"/>
            <a:ext cx="238125" cy="269876"/>
            <a:chOff x="10061575" y="3406775"/>
            <a:chExt cx="238125" cy="269876"/>
          </a:xfrm>
        </p:grpSpPr>
        <p:sp>
          <p:nvSpPr>
            <p:cNvPr id="40" name="Freeform 40"/>
            <p:cNvSpPr/>
            <p:nvPr/>
          </p:nvSpPr>
          <p:spPr>
            <a:xfrm>
              <a:off x="10061575" y="3406775"/>
              <a:ext cx="190500" cy="254001"/>
            </a:xfrm>
            <a:custGeom>
              <a:avLst/>
              <a:gdLst/>
              <a:ahLst/>
              <a:cxnLst/>
              <a:rect l="l" t="t" r="r" b="b"/>
              <a:pathLst>
                <a:path w="190500" h="254001">
                  <a:moveTo>
                    <a:pt x="73263" y="254001"/>
                  </a:moveTo>
                  <a:lnTo>
                    <a:pt x="31750" y="254001"/>
                  </a:lnTo>
                  <a:cubicBezTo>
                    <a:pt x="14215" y="254001"/>
                    <a:pt x="0" y="239786"/>
                    <a:pt x="0" y="222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lnTo>
                    <a:pt x="158750" y="0"/>
                  </a:lnTo>
                  <a:cubicBezTo>
                    <a:pt x="176285" y="0"/>
                    <a:pt x="190500" y="14215"/>
                    <a:pt x="190500" y="31750"/>
                  </a:cubicBezTo>
                  <a:lnTo>
                    <a:pt x="190500" y="158750"/>
                  </a:ln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204450" y="3613151"/>
              <a:ext cx="95250" cy="63500"/>
            </a:xfrm>
            <a:custGeom>
              <a:avLst/>
              <a:gdLst/>
              <a:ahLst/>
              <a:cxnLst/>
              <a:rect l="l" t="t" r="r" b="b"/>
              <a:pathLst>
                <a:path w="95250" h="63500">
                  <a:moveTo>
                    <a:pt x="0" y="31750"/>
                  </a:moveTo>
                  <a:lnTo>
                    <a:pt x="31750" y="63500"/>
                  </a:lnTo>
                  <a:lnTo>
                    <a:pt x="95250" y="0"/>
                  </a:ln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125075" y="3470275"/>
              <a:ext cx="63500" cy="9525"/>
            </a:xfrm>
            <a:custGeom>
              <a:avLst/>
              <a:gdLst/>
              <a:ahLst/>
              <a:cxnLst/>
              <a:rect l="l" t="t" r="r" b="b"/>
              <a:pathLst>
                <a:path w="63500" h="9525">
                  <a:moveTo>
                    <a:pt x="0" y="0"/>
                  </a:moveTo>
                  <a:lnTo>
                    <a:pt x="63500" y="0"/>
                  </a:ln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125075" y="3533775"/>
              <a:ext cx="31750" cy="9525"/>
            </a:xfrm>
            <a:custGeom>
              <a:avLst/>
              <a:gdLst/>
              <a:ahLst/>
              <a:cxnLst/>
              <a:rect l="l" t="t" r="r" b="b"/>
              <a:pathLst>
                <a:path w="31750" h="9525">
                  <a:moveTo>
                    <a:pt x="0" y="0"/>
                  </a:moveTo>
                  <a:lnTo>
                    <a:pt x="31750" y="0"/>
                  </a:lnTo>
                </a:path>
              </a:pathLst>
            </a:custGeom>
            <a:noFill/>
            <a:ln w="31750">
              <a:solidFill>
                <a:srgbClr val="12344D"/>
              </a:solidFill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9678924" y="381317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本机待办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51492" y="4235450"/>
            <a:ext cx="1042416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离线查看编辑</a:t>
            </a:r>
            <a:b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可带入日历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277100" y="4933950"/>
            <a:ext cx="1562100" cy="514350"/>
          </a:xfrm>
          <a:prstGeom prst="roundRect">
            <a:avLst>
              <a:gd name="adj" fmla="val 14815"/>
            </a:avLst>
          </a:prstGeom>
          <a:solidFill>
            <a:srgbClr val="EAF1F5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506081" y="5092700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人工确认关口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1342" y="5749925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系统日历只接收预填信息，最终保存仍在手机日历中完成。</a:t>
            </a:r>
          </a:p>
        </p:txBody>
      </p:sp>
      <p:sp>
        <p:nvSpPr>
          <p:cNvPr id="50" name="Line 50"/>
          <p:cNvSpPr/>
          <p:nvPr/>
        </p:nvSpPr>
        <p:spPr>
          <a:xfrm>
            <a:off x="685800" y="635317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78942" y="6473825"/>
            <a:ext cx="276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知行 · 智能移动应用开发项目实践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890523" y="6473825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942" y="254000"/>
            <a:ext cx="10022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03 / AI能力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99431" y="25400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9798" y="685800"/>
            <a:ext cx="509647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AI深读补足办理顺序与理由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409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31342" y="166370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可见输出</a:t>
            </a:r>
          </a:p>
        </p:txBody>
      </p:sp>
      <p:sp>
        <p:nvSpPr>
          <p:cNvPr id="7" name="Freeform 7"/>
          <p:cNvSpPr/>
          <p:nvPr/>
        </p:nvSpPr>
        <p:spPr>
          <a:xfrm>
            <a:off x="895350" y="2136775"/>
            <a:ext cx="215899" cy="203199"/>
          </a:xfrm>
          <a:custGeom>
            <a:avLst/>
            <a:gdLst/>
            <a:ahLst/>
            <a:cxnLst/>
            <a:rect l="l" t="t" r="r" b="b"/>
            <a:pathLst>
              <a:path w="215899" h="203199">
                <a:moveTo>
                  <a:pt x="165100" y="177800"/>
                </a:moveTo>
                <a:cubicBezTo>
                  <a:pt x="179128" y="177800"/>
                  <a:pt x="190500" y="189171"/>
                  <a:pt x="190500" y="203199"/>
                </a:cubicBezTo>
                <a:cubicBezTo>
                  <a:pt x="190500" y="189171"/>
                  <a:pt x="201871" y="177800"/>
                  <a:pt x="215899" y="177800"/>
                </a:cubicBezTo>
                <a:cubicBezTo>
                  <a:pt x="201871" y="177800"/>
                  <a:pt x="190500" y="166428"/>
                  <a:pt x="190500" y="152400"/>
                </a:cubicBezTo>
                <a:cubicBezTo>
                  <a:pt x="190500" y="166428"/>
                  <a:pt x="179128" y="177800"/>
                  <a:pt x="165100" y="177800"/>
                </a:cubicBezTo>
                <a:moveTo>
                  <a:pt x="165100" y="25400"/>
                </a:moveTo>
                <a:cubicBezTo>
                  <a:pt x="179128" y="25400"/>
                  <a:pt x="190500" y="36772"/>
                  <a:pt x="190500" y="50800"/>
                </a:cubicBezTo>
                <a:cubicBezTo>
                  <a:pt x="190500" y="36772"/>
                  <a:pt x="201871" y="25400"/>
                  <a:pt x="215899" y="25400"/>
                </a:cubicBezTo>
                <a:cubicBezTo>
                  <a:pt x="201871" y="25400"/>
                  <a:pt x="190500" y="14028"/>
                  <a:pt x="190500" y="0"/>
                </a:cubicBezTo>
                <a:cubicBezTo>
                  <a:pt x="190500" y="14028"/>
                  <a:pt x="179128" y="25400"/>
                  <a:pt x="165100" y="25400"/>
                </a:cubicBezTo>
                <a:moveTo>
                  <a:pt x="76200" y="177800"/>
                </a:moveTo>
                <a:cubicBezTo>
                  <a:pt x="76200" y="135716"/>
                  <a:pt x="110316" y="101600"/>
                  <a:pt x="152400" y="101600"/>
                </a:cubicBezTo>
                <a:cubicBezTo>
                  <a:pt x="110316" y="101600"/>
                  <a:pt x="76200" y="67484"/>
                  <a:pt x="76200" y="25400"/>
                </a:cubicBezTo>
                <a:cubicBezTo>
                  <a:pt x="76200" y="67484"/>
                  <a:pt x="42084" y="101600"/>
                  <a:pt x="0" y="101600"/>
                </a:cubicBezTo>
                <a:cubicBezTo>
                  <a:pt x="42084" y="101600"/>
                  <a:pt x="76200" y="135716"/>
                  <a:pt x="76200" y="177800"/>
                </a:cubicBezTo>
              </a:path>
            </a:pathLst>
          </a:custGeom>
          <a:noFill/>
          <a:ln w="25400">
            <a:solidFill>
              <a:srgbClr val="13A89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343406" y="2117725"/>
            <a:ext cx="12298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一句话概括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5692" y="2492375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把通知主题压缩成可读结论。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0750" y="3013075"/>
            <a:ext cx="190500" cy="215899"/>
            <a:chOff x="920750" y="3013075"/>
            <a:chExt cx="190500" cy="215899"/>
          </a:xfrm>
        </p:grpSpPr>
        <p:sp>
          <p:nvSpPr>
            <p:cNvPr id="10" name="Freeform 10"/>
            <p:cNvSpPr/>
            <p:nvPr/>
          </p:nvSpPr>
          <p:spPr>
            <a:xfrm>
              <a:off x="920750" y="3013075"/>
              <a:ext cx="152400" cy="203199"/>
            </a:xfrm>
            <a:custGeom>
              <a:avLst/>
              <a:gdLst/>
              <a:ahLst/>
              <a:cxnLst/>
              <a:rect l="l" t="t" r="r" b="b"/>
              <a:pathLst>
                <a:path w="152400" h="203199">
                  <a:moveTo>
                    <a:pt x="58610" y="203199"/>
                  </a:moveTo>
                  <a:lnTo>
                    <a:pt x="25400" y="203199"/>
                  </a:lnTo>
                  <a:cubicBezTo>
                    <a:pt x="11372" y="203199"/>
                    <a:pt x="0" y="191828"/>
                    <a:pt x="0" y="1778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127000" y="0"/>
                  </a:lnTo>
                  <a:cubicBezTo>
                    <a:pt x="141028" y="0"/>
                    <a:pt x="152400" y="11372"/>
                    <a:pt x="152400" y="25400"/>
                  </a:cubicBezTo>
                  <a:lnTo>
                    <a:pt x="152400" y="12700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35050" y="3178174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0" y="25400"/>
                  </a:moveTo>
                  <a:lnTo>
                    <a:pt x="25400" y="50800"/>
                  </a:lnTo>
                  <a:lnTo>
                    <a:pt x="76200" y="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71550" y="3063875"/>
              <a:ext cx="50800" cy="9525"/>
            </a:xfrm>
            <a:custGeom>
              <a:avLst/>
              <a:gdLst/>
              <a:ahLst/>
              <a:cxnLst/>
              <a:rect l="l" t="t" r="r" b="b"/>
              <a:pathLst>
                <a:path w="50800" h="9525">
                  <a:moveTo>
                    <a:pt x="0" y="0"/>
                  </a:moveTo>
                  <a:lnTo>
                    <a:pt x="50800" y="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71550" y="3114675"/>
              <a:ext cx="25400" cy="9525"/>
            </a:xfrm>
            <a:custGeom>
              <a:avLst/>
              <a:gdLst/>
              <a:ahLst/>
              <a:cxnLst/>
              <a:rect l="l" t="t" r="r" b="b"/>
              <a:pathLst>
                <a:path w="25400" h="9525">
                  <a:moveTo>
                    <a:pt x="0" y="0"/>
                  </a:moveTo>
                  <a:lnTo>
                    <a:pt x="25400" y="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343406" y="2994025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有序办理建议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5692" y="3368675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把可执行步骤按先后关系排开。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0750" y="3914775"/>
            <a:ext cx="177800" cy="152400"/>
            <a:chOff x="920750" y="3914775"/>
            <a:chExt cx="177800" cy="152400"/>
          </a:xfrm>
        </p:grpSpPr>
        <p:sp>
          <p:nvSpPr>
            <p:cNvPr id="17" name="Freeform 17"/>
            <p:cNvSpPr/>
            <p:nvPr/>
          </p:nvSpPr>
          <p:spPr>
            <a:xfrm>
              <a:off x="920750" y="3914775"/>
              <a:ext cx="63500" cy="152400"/>
            </a:xfrm>
            <a:custGeom>
              <a:avLst/>
              <a:gdLst/>
              <a:ahLst/>
              <a:cxnLst/>
              <a:rect l="l" t="t" r="r" b="b"/>
              <a:pathLst>
                <a:path w="63500" h="152400">
                  <a:moveTo>
                    <a:pt x="63500" y="63500"/>
                  </a:moveTo>
                  <a:lnTo>
                    <a:pt x="12700" y="63500"/>
                  </a:lnTo>
                  <a:cubicBezTo>
                    <a:pt x="5686" y="63500"/>
                    <a:pt x="0" y="57814"/>
                    <a:pt x="0" y="50800"/>
                  </a:cubicBez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lnTo>
                    <a:pt x="50800" y="0"/>
                  </a:lnTo>
                  <a:cubicBezTo>
                    <a:pt x="57814" y="0"/>
                    <a:pt x="63500" y="5686"/>
                    <a:pt x="63500" y="12700"/>
                  </a:cubicBezTo>
                  <a:lnTo>
                    <a:pt x="63500" y="88900"/>
                  </a:lnTo>
                  <a:cubicBezTo>
                    <a:pt x="63500" y="122771"/>
                    <a:pt x="46571" y="143929"/>
                    <a:pt x="12700" y="152400"/>
                  </a:cubicBez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35050" y="3914775"/>
              <a:ext cx="63500" cy="152400"/>
            </a:xfrm>
            <a:custGeom>
              <a:avLst/>
              <a:gdLst/>
              <a:ahLst/>
              <a:cxnLst/>
              <a:rect l="l" t="t" r="r" b="b"/>
              <a:pathLst>
                <a:path w="63500" h="152400">
                  <a:moveTo>
                    <a:pt x="63500" y="63500"/>
                  </a:moveTo>
                  <a:lnTo>
                    <a:pt x="12700" y="63500"/>
                  </a:lnTo>
                  <a:cubicBezTo>
                    <a:pt x="5686" y="63500"/>
                    <a:pt x="0" y="57814"/>
                    <a:pt x="0" y="50800"/>
                  </a:cubicBez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lnTo>
                    <a:pt x="50800" y="0"/>
                  </a:lnTo>
                  <a:cubicBezTo>
                    <a:pt x="57814" y="0"/>
                    <a:pt x="63500" y="5686"/>
                    <a:pt x="63500" y="12700"/>
                  </a:cubicBezTo>
                  <a:lnTo>
                    <a:pt x="63500" y="88900"/>
                  </a:lnTo>
                  <a:cubicBezTo>
                    <a:pt x="63500" y="122771"/>
                    <a:pt x="46571" y="143929"/>
                    <a:pt x="12700" y="152400"/>
                  </a:cubicBez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43406" y="387032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理由与原文摘句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5692" y="4244975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每项建议都能回到通知核对。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95350" y="4765675"/>
            <a:ext cx="230596" cy="238124"/>
            <a:chOff x="895350" y="4765675"/>
            <a:chExt cx="230596" cy="238124"/>
          </a:xfrm>
        </p:grpSpPr>
        <p:sp>
          <p:nvSpPr>
            <p:cNvPr id="22" name="Freeform 22"/>
            <p:cNvSpPr/>
            <p:nvPr/>
          </p:nvSpPr>
          <p:spPr>
            <a:xfrm>
              <a:off x="958850" y="4829175"/>
              <a:ext cx="101600" cy="9525"/>
            </a:xfrm>
            <a:custGeom>
              <a:avLst/>
              <a:gdLst/>
              <a:ahLst/>
              <a:cxnLst/>
              <a:rect l="l" t="t" r="r" b="b"/>
              <a:pathLst>
                <a:path w="101600" h="9525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58850" y="487997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95350" y="4765675"/>
              <a:ext cx="228599" cy="215899"/>
            </a:xfrm>
            <a:custGeom>
              <a:avLst/>
              <a:gdLst/>
              <a:ahLst/>
              <a:cxnLst/>
              <a:rect l="l" t="t" r="r" b="b"/>
              <a:pathLst>
                <a:path w="228599" h="215899">
                  <a:moveTo>
                    <a:pt x="139700" y="177800"/>
                  </a:moveTo>
                  <a:lnTo>
                    <a:pt x="127000" y="177800"/>
                  </a:lnTo>
                  <a:lnTo>
                    <a:pt x="63500" y="215899"/>
                  </a:lnTo>
                  <a:lnTo>
                    <a:pt x="63500" y="177800"/>
                  </a:lnTo>
                  <a:lnTo>
                    <a:pt x="38100" y="177800"/>
                  </a:lnTo>
                  <a:cubicBezTo>
                    <a:pt x="17058" y="177800"/>
                    <a:pt x="0" y="160742"/>
                    <a:pt x="0" y="139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lnTo>
                    <a:pt x="190500" y="0"/>
                  </a:ln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95250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98549" y="499427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79499" y="4902814"/>
              <a:ext cx="46447" cy="53360"/>
            </a:xfrm>
            <a:custGeom>
              <a:avLst/>
              <a:gdLst/>
              <a:ahLst/>
              <a:cxnLst/>
              <a:rect l="l" t="t" r="r" b="b"/>
              <a:pathLst>
                <a:path w="46447" h="53360">
                  <a:moveTo>
                    <a:pt x="19050" y="53360"/>
                  </a:moveTo>
                  <a:cubicBezTo>
                    <a:pt x="30767" y="53323"/>
                    <a:pt x="40943" y="45287"/>
                    <a:pt x="43695" y="33898"/>
                  </a:cubicBezTo>
                  <a:cubicBezTo>
                    <a:pt x="46447" y="22509"/>
                    <a:pt x="41064" y="10713"/>
                    <a:pt x="30658" y="5329"/>
                  </a:cubicBezTo>
                  <a:cubicBezTo>
                    <a:pt x="20255" y="0"/>
                    <a:pt x="7552" y="2542"/>
                    <a:pt x="0" y="11463"/>
                  </a:cubicBezTo>
                </a:path>
              </a:pathLst>
            </a:custGeom>
            <a:noFill/>
            <a:ln w="25400">
              <a:solidFill>
                <a:srgbClr val="13A89E"/>
              </a:solidFill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343406" y="4746625"/>
            <a:ext cx="12298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待追问问题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5692" y="5121275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暴露原文没有说明的关键信息。</a:t>
            </a:r>
          </a:p>
        </p:txBody>
      </p:sp>
      <p:sp>
        <p:nvSpPr>
          <p:cNvPr id="30" name="Line 30"/>
          <p:cNvSpPr/>
          <p:nvPr/>
        </p:nvSpPr>
        <p:spPr>
          <a:xfrm>
            <a:off x="838200" y="5657850"/>
            <a:ext cx="8020050" cy="9525"/>
          </a:xfrm>
          <a:custGeom>
            <a:avLst/>
            <a:gdLst/>
            <a:ahLst/>
            <a:cxnLst/>
            <a:rect l="l" t="t" r="r" b="b"/>
            <a:pathLst>
              <a:path w="8020050" h="9525">
                <a:moveTo>
                  <a:pt x="0" y="0"/>
                </a:moveTo>
                <a:lnTo>
                  <a:pt x="802005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31342" y="5797550"/>
            <a:ext cx="34667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2B451"/>
                </a:solidFill>
                <a:latin typeface="Arial"/>
                <a:ea typeface="Microsoft YaHei"/>
                <a:cs typeface="Arial"/>
              </a:rPr>
              <a:t>这是可审阅的建议，不是学校的正式解释。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096500" y="1476375"/>
            <a:ext cx="1104900" cy="47244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74" y="1495425"/>
            <a:ext cx="935351" cy="4686300"/>
          </a:xfrm>
          <a:prstGeom prst="rect">
            <a:avLst/>
          </a:prstGeom>
        </p:spPr>
      </p:pic>
      <p:sp>
        <p:nvSpPr>
          <p:cNvPr id="34" name="Line 34"/>
          <p:cNvSpPr/>
          <p:nvPr/>
        </p:nvSpPr>
        <p:spPr>
          <a:xfrm>
            <a:off x="685800" y="635317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78942" y="6473825"/>
            <a:ext cx="276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知行 · 智能移动应用开发项目实践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90523" y="6473825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942" y="254000"/>
            <a:ext cx="11700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04 / 原文依据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99431" y="25400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9798" y="685800"/>
            <a:ext cx="469658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原文依据让结果可以审阅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409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42950" y="1600200"/>
            <a:ext cx="5467350" cy="453390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1666875"/>
            <a:ext cx="4457700" cy="44005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655308" y="1593850"/>
            <a:ext cx="194450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实时AI核对页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60642" y="2054225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演示通知为合成内容</a:t>
            </a:r>
          </a:p>
        </p:txBody>
      </p:sp>
      <p:sp>
        <p:nvSpPr>
          <p:cNvPr id="10" name="Line 10"/>
          <p:cNvSpPr/>
          <p:nvPr/>
        </p:nvSpPr>
        <p:spPr>
          <a:xfrm>
            <a:off x="6667500" y="2505075"/>
            <a:ext cx="4686300" cy="9525"/>
          </a:xfrm>
          <a:custGeom>
            <a:avLst/>
            <a:gdLst/>
            <a:ahLst/>
            <a:cxnLst/>
            <a:rect l="l" t="t" r="r" b="b"/>
            <a:pathLst>
              <a:path w="4686300" h="9525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60642" y="2740025"/>
            <a:ext cx="6443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行动 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8356" y="3013075"/>
            <a:ext cx="30463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提交项目书 PDF 至教学平台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60642" y="3559175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截止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8356" y="3819525"/>
            <a:ext cx="24099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232C"/>
                </a:solidFill>
                <a:latin typeface="Arial"/>
                <a:ea typeface="Arial"/>
                <a:cs typeface="Arial"/>
              </a:rPr>
              <a:t>2026-10-23 · 18:00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60642" y="4378325"/>
            <a:ext cx="6443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行动 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8356" y="4651375"/>
            <a:ext cx="20967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准备3分钟演示视频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0642" y="5197475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2B451"/>
                </a:solidFill>
                <a:latin typeface="Arial"/>
                <a:ea typeface="Microsoft YaHei"/>
                <a:cs typeface="Arial"/>
              </a:rPr>
              <a:t>未明确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58356" y="547052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答辩时间保留待确认</a:t>
            </a:r>
          </a:p>
        </p:txBody>
      </p:sp>
      <p:sp>
        <p:nvSpPr>
          <p:cNvPr id="19" name="Line 19"/>
          <p:cNvSpPr/>
          <p:nvPr/>
        </p:nvSpPr>
        <p:spPr>
          <a:xfrm>
            <a:off x="6667500" y="6172200"/>
            <a:ext cx="4686300" cy="9525"/>
          </a:xfrm>
          <a:custGeom>
            <a:avLst/>
            <a:gdLst/>
            <a:ahLst/>
            <a:cxnLst/>
            <a:rect l="l" t="t" r="r" b="b"/>
            <a:pathLst>
              <a:path w="4686300" h="9525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19050">
            <a:solidFill>
              <a:srgbClr val="13A89E"/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" y="635317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78942" y="6473825"/>
            <a:ext cx="276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知行 · 智能移动应用开发项目实践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90523" y="6473825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942" y="254000"/>
            <a:ext cx="11700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05 / 执行入口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99431" y="25400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9798" y="685800"/>
            <a:ext cx="596874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待办离线可用，日历由用户保存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409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42950" y="1504950"/>
            <a:ext cx="2181225" cy="4686300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94" y="1562100"/>
            <a:ext cx="1709738" cy="4572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512058" y="159385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保存到本机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15106" y="2012950"/>
            <a:ext cx="2532888" cy="694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700"/>
              </a:lnSpc>
            </a:pP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已保存任务可离线查看、</a:t>
            </a:r>
            <a:b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编辑和标记完成。</a:t>
            </a:r>
          </a:p>
        </p:txBody>
      </p:sp>
      <p:sp>
        <p:nvSpPr>
          <p:cNvPr id="10" name="Line 10"/>
          <p:cNvSpPr/>
          <p:nvPr/>
        </p:nvSpPr>
        <p:spPr>
          <a:xfrm>
            <a:off x="3524250" y="300037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3600450" y="3367088"/>
            <a:ext cx="257175" cy="271462"/>
            <a:chOff x="3600450" y="3367088"/>
            <a:chExt cx="257175" cy="271462"/>
          </a:xfrm>
        </p:grpSpPr>
        <p:sp>
          <p:nvSpPr>
            <p:cNvPr id="11" name="Freeform 11"/>
            <p:cNvSpPr/>
            <p:nvPr/>
          </p:nvSpPr>
          <p:spPr>
            <a:xfrm>
              <a:off x="3600450" y="3395662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21444" y="228600"/>
                  </a:move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lnTo>
                    <a:pt x="200025" y="0"/>
                  </a:lnTo>
                  <a:cubicBezTo>
                    <a:pt x="215807" y="0"/>
                    <a:pt x="228600" y="12793"/>
                    <a:pt x="228600" y="28575"/>
                  </a:cubicBezTo>
                  <a:lnTo>
                    <a:pt x="228600" y="100012"/>
                  </a:lnTo>
                </a:path>
              </a:pathLst>
            </a:custGeom>
            <a:noFill/>
            <a:ln w="28575">
              <a:solidFill>
                <a:srgbClr val="13A89E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71900" y="3367088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28575">
              <a:solidFill>
                <a:srgbClr val="13A89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57600" y="3367088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28575">
              <a:solidFill>
                <a:srgbClr val="13A89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00450" y="3481388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8575">
              <a:solidFill>
                <a:srgbClr val="13A89E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771900" y="3595688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28575">
              <a:solidFill>
                <a:srgbClr val="13A89E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814762" y="3552825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28575">
              <a:solidFill>
                <a:srgbClr val="13A89E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4086606" y="336550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带入系统日历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86606" y="3708400"/>
            <a:ext cx="2784348" cy="694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700"/>
              </a:lnSpc>
            </a:pP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开始时间取通知截止时间；</a:t>
            </a:r>
            <a:b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结束时间默认延后30分钟。</a:t>
            </a:r>
          </a:p>
        </p:txBody>
      </p:sp>
      <p:sp>
        <p:nvSpPr>
          <p:cNvPr id="20" name="Line 20"/>
          <p:cNvSpPr/>
          <p:nvPr/>
        </p:nvSpPr>
        <p:spPr>
          <a:xfrm>
            <a:off x="3524250" y="4743450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3629025" y="5072062"/>
            <a:ext cx="214312" cy="257176"/>
            <a:chOff x="3629025" y="5072062"/>
            <a:chExt cx="214312" cy="257176"/>
          </a:xfrm>
        </p:grpSpPr>
        <p:sp>
          <p:nvSpPr>
            <p:cNvPr id="21" name="Freeform 21"/>
            <p:cNvSpPr/>
            <p:nvPr/>
          </p:nvSpPr>
          <p:spPr>
            <a:xfrm>
              <a:off x="3657600" y="507206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cubicBezTo>
                    <a:pt x="0" y="88713"/>
                    <a:pt x="25587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7"/>
                    <a:pt x="88713" y="0"/>
                    <a:pt x="57150" y="0"/>
                  </a:cubicBezTo>
                  <a:cubicBezTo>
                    <a:pt x="25587" y="0"/>
                    <a:pt x="0" y="25587"/>
                    <a:pt x="0" y="57150"/>
                  </a:cubicBezTo>
                </a:path>
              </a:pathLst>
            </a:custGeom>
            <a:noFill/>
            <a:ln w="28575">
              <a:solidFill>
                <a:srgbClr val="F2B451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629025" y="5243512"/>
              <a:ext cx="114300" cy="85725"/>
            </a:xfrm>
            <a:custGeom>
              <a:avLst/>
              <a:gdLst/>
              <a:ahLst/>
              <a:cxnLst/>
              <a:rect l="l" t="t" r="r" b="b"/>
              <a:pathLst>
                <a:path w="114300" h="85725">
                  <a:moveTo>
                    <a:pt x="0" y="85725"/>
                  </a:move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lnTo>
                    <a:pt x="114300" y="0"/>
                  </a:lnTo>
                </a:path>
              </a:pathLst>
            </a:custGeom>
            <a:noFill/>
            <a:ln w="28575">
              <a:solidFill>
                <a:srgbClr val="F2B451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757612" y="5272088"/>
              <a:ext cx="85725" cy="57150"/>
            </a:xfrm>
            <a:custGeom>
              <a:avLst/>
              <a:gdLst/>
              <a:ahLst/>
              <a:cxnLst/>
              <a:rect l="l" t="t" r="r" b="b"/>
              <a:pathLst>
                <a:path w="85725" h="57150">
                  <a:moveTo>
                    <a:pt x="0" y="28575"/>
                  </a:moveTo>
                  <a:lnTo>
                    <a:pt x="28575" y="57150"/>
                  </a:lnTo>
                  <a:lnTo>
                    <a:pt x="85725" y="0"/>
                  </a:lnTo>
                </a:path>
              </a:pathLst>
            </a:custGeom>
            <a:noFill/>
            <a:ln w="28575">
              <a:solidFill>
                <a:srgbClr val="F2B451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4086606" y="507047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打开预填编辑页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88892" y="5445125"/>
            <a:ext cx="2756916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学生检查后自行保存。</a:t>
            </a:r>
            <a:b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已验证预填时间，未验证提醒送达。</a:t>
            </a:r>
          </a:p>
        </p:txBody>
      </p:sp>
      <p:sp>
        <p:nvSpPr>
          <p:cNvPr id="27" name="Line 27"/>
          <p:cNvSpPr/>
          <p:nvPr/>
        </p:nvSpPr>
        <p:spPr>
          <a:xfrm>
            <a:off x="685800" y="635317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78942" y="6473825"/>
            <a:ext cx="276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知行 · 智能移动应用开发项目实践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90523" y="6473825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942" y="254000"/>
            <a:ext cx="11700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06 / 工程实现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99431" y="25400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9798" y="685800"/>
            <a:ext cx="424837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AI链路包含服务端校验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409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29056" y="1593850"/>
            <a:ext cx="58338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客户端提交请求，服务端负责权限、调用和结果检查。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838200" y="2305050"/>
            <a:ext cx="29527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457700" y="23050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EAF1F5"/>
          </a:solidFill>
          <a:ln w="9525">
            <a:solidFill>
              <a:srgbClr val="D5E1E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53450" y="2305050"/>
            <a:ext cx="28003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1195387" y="2636044"/>
            <a:ext cx="180975" cy="271462"/>
            <a:chOff x="1195387" y="2636044"/>
            <a:chExt cx="180975" cy="271462"/>
          </a:xfrm>
        </p:grpSpPr>
        <p:sp>
          <p:nvSpPr>
            <p:cNvPr id="10" name="Freeform 10"/>
            <p:cNvSpPr/>
            <p:nvPr/>
          </p:nvSpPr>
          <p:spPr>
            <a:xfrm>
              <a:off x="1195387" y="2636044"/>
              <a:ext cx="180975" cy="271462"/>
            </a:xfrm>
            <a:custGeom>
              <a:avLst/>
              <a:gdLst/>
              <a:ahLst/>
              <a:cxnLst/>
              <a:rect l="l" t="t" r="r" b="b"/>
              <a:pathLst>
                <a:path w="180975" h="271462">
                  <a:moveTo>
                    <a:pt x="0" y="30162"/>
                  </a:moveTo>
                  <a:cubicBezTo>
                    <a:pt x="0" y="13504"/>
                    <a:pt x="13504" y="0"/>
                    <a:pt x="30162" y="0"/>
                  </a:cubicBezTo>
                  <a:lnTo>
                    <a:pt x="150812" y="0"/>
                  </a:lnTo>
                  <a:cubicBezTo>
                    <a:pt x="167470" y="0"/>
                    <a:pt x="180975" y="13504"/>
                    <a:pt x="180975" y="30162"/>
                  </a:cubicBezTo>
                  <a:lnTo>
                    <a:pt x="180975" y="241299"/>
                  </a:lnTo>
                  <a:cubicBezTo>
                    <a:pt x="180975" y="257958"/>
                    <a:pt x="167470" y="271462"/>
                    <a:pt x="150812" y="271462"/>
                  </a:cubicBezTo>
                  <a:lnTo>
                    <a:pt x="30162" y="271462"/>
                  </a:lnTo>
                  <a:cubicBezTo>
                    <a:pt x="13504" y="271462"/>
                    <a:pt x="0" y="257958"/>
                    <a:pt x="0" y="241299"/>
                  </a:cubicBezTo>
                  <a:lnTo>
                    <a:pt x="0" y="30162"/>
                  </a:lnTo>
                </a:path>
              </a:pathLst>
            </a:custGeom>
            <a:noFill/>
            <a:ln w="30162">
              <a:solidFill>
                <a:srgbClr val="13A89E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70793" y="2651125"/>
              <a:ext cx="30162" cy="9525"/>
            </a:xfrm>
            <a:custGeom>
              <a:avLst/>
              <a:gdLst/>
              <a:ahLst/>
              <a:cxnLst/>
              <a:rect l="l" t="t" r="r" b="b"/>
              <a:pathLst>
                <a:path w="30162" h="9525">
                  <a:moveTo>
                    <a:pt x="0" y="0"/>
                  </a:moveTo>
                  <a:lnTo>
                    <a:pt x="30162" y="0"/>
                  </a:lnTo>
                </a:path>
              </a:pathLst>
            </a:custGeom>
            <a:noFill/>
            <a:ln w="30162">
              <a:solidFill>
                <a:srgbClr val="13A89E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85875" y="284718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51"/>
                  </a:lnTo>
                </a:path>
              </a:pathLst>
            </a:custGeom>
            <a:noFill/>
            <a:ln w="30162">
              <a:solidFill>
                <a:srgbClr val="13A89E"/>
              </a:solidFill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648206" y="2641600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移动端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8042" y="3127375"/>
            <a:ext cx="1556766" cy="911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350" dirty="0">
                <a:solidFill>
                  <a:srgbClr val="18232C"/>
                </a:solidFill>
                <a:latin typeface="Arial"/>
                <a:ea typeface="Arial"/>
                <a:cs typeface="Arial"/>
              </a:rPr>
              <a:t>uni-app / Vue 3</a:t>
            </a:r>
            <a:br>
              <a:rPr lang="en-US" sz="1350" dirty="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账号会话与文件输入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字段编辑和人工确认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25967" y="3216275"/>
            <a:ext cx="7395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13A89E"/>
                </a:solidFill>
                <a:latin typeface="Arial"/>
                <a:ea typeface="Arial"/>
                <a:cs typeface="Arial"/>
              </a:rPr>
              <a:t>HTTPS →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769644" y="2651125"/>
            <a:ext cx="271462" cy="241300"/>
            <a:chOff x="4769644" y="2651125"/>
            <a:chExt cx="271462" cy="241300"/>
          </a:xfrm>
        </p:grpSpPr>
        <p:sp>
          <p:nvSpPr>
            <p:cNvPr id="17" name="Freeform 17"/>
            <p:cNvSpPr/>
            <p:nvPr/>
          </p:nvSpPr>
          <p:spPr>
            <a:xfrm>
              <a:off x="4769644" y="2651125"/>
              <a:ext cx="271462" cy="120650"/>
            </a:xfrm>
            <a:custGeom>
              <a:avLst/>
              <a:gdLst/>
              <a:ahLst/>
              <a:cxnLst/>
              <a:rect l="l" t="t" r="r" b="b"/>
              <a:pathLst>
                <a:path w="271462" h="120650">
                  <a:moveTo>
                    <a:pt x="0" y="45244"/>
                  </a:moveTo>
                  <a:cubicBezTo>
                    <a:pt x="0" y="20256"/>
                    <a:pt x="20256" y="0"/>
                    <a:pt x="45244" y="0"/>
                  </a:cubicBezTo>
                  <a:lnTo>
                    <a:pt x="226218" y="0"/>
                  </a:lnTo>
                  <a:cubicBezTo>
                    <a:pt x="251206" y="0"/>
                    <a:pt x="271462" y="20256"/>
                    <a:pt x="271462" y="45244"/>
                  </a:cubicBezTo>
                  <a:lnTo>
                    <a:pt x="271462" y="75406"/>
                  </a:lnTo>
                  <a:cubicBezTo>
                    <a:pt x="271462" y="100393"/>
                    <a:pt x="251206" y="120650"/>
                    <a:pt x="226218" y="120650"/>
                  </a:cubicBezTo>
                  <a:lnTo>
                    <a:pt x="45244" y="120650"/>
                  </a:lnTo>
                  <a:cubicBezTo>
                    <a:pt x="20256" y="120650"/>
                    <a:pt x="0" y="100393"/>
                    <a:pt x="0" y="75406"/>
                  </a:cubicBezTo>
                  <a:lnTo>
                    <a:pt x="0" y="45244"/>
                  </a:lnTo>
                </a:path>
              </a:pathLst>
            </a:custGeom>
            <a:noFill/>
            <a:ln w="30162">
              <a:solidFill>
                <a:srgbClr val="13A89E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769644" y="2771775"/>
              <a:ext cx="271462" cy="120650"/>
            </a:xfrm>
            <a:custGeom>
              <a:avLst/>
              <a:gdLst/>
              <a:ahLst/>
              <a:cxnLst/>
              <a:rect l="l" t="t" r="r" b="b"/>
              <a:pathLst>
                <a:path w="271462" h="120650">
                  <a:moveTo>
                    <a:pt x="0" y="45244"/>
                  </a:moveTo>
                  <a:cubicBezTo>
                    <a:pt x="0" y="20256"/>
                    <a:pt x="20256" y="0"/>
                    <a:pt x="45244" y="0"/>
                  </a:cubicBezTo>
                  <a:lnTo>
                    <a:pt x="226218" y="0"/>
                  </a:lnTo>
                  <a:cubicBezTo>
                    <a:pt x="251206" y="0"/>
                    <a:pt x="271462" y="20256"/>
                    <a:pt x="271462" y="45244"/>
                  </a:cubicBezTo>
                  <a:lnTo>
                    <a:pt x="271462" y="75406"/>
                  </a:lnTo>
                  <a:cubicBezTo>
                    <a:pt x="271462" y="100393"/>
                    <a:pt x="251206" y="120650"/>
                    <a:pt x="226218" y="120650"/>
                  </a:cubicBezTo>
                  <a:lnTo>
                    <a:pt x="45244" y="120650"/>
                  </a:lnTo>
                  <a:cubicBezTo>
                    <a:pt x="20256" y="120650"/>
                    <a:pt x="0" y="100393"/>
                    <a:pt x="0" y="75406"/>
                  </a:cubicBezTo>
                  <a:lnTo>
                    <a:pt x="0" y="45244"/>
                  </a:lnTo>
                </a:path>
              </a:pathLst>
            </a:custGeom>
            <a:noFill/>
            <a:ln w="30162">
              <a:solidFill>
                <a:srgbClr val="13A89E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829969" y="27114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51"/>
                  </a:lnTo>
                </a:path>
              </a:pathLst>
            </a:custGeom>
            <a:noFill/>
            <a:ln w="30162">
              <a:solidFill>
                <a:srgbClr val="13A89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829969" y="283209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51"/>
                  </a:lnTo>
                </a:path>
              </a:pathLst>
            </a:custGeom>
            <a:noFill/>
            <a:ln w="30162">
              <a:solidFill>
                <a:srgbClr val="13A89E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5267706" y="2641600"/>
            <a:ext cx="1769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FastAPI 服务端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17542" y="3127375"/>
            <a:ext cx="1968246" cy="911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550"/>
              </a:lnSpc>
            </a:pP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鉴权、配额与文档提取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调用模型并校验JSON结构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核对原文连续引用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50380" y="3216275"/>
            <a:ext cx="5393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模型 →</a:t>
            </a:r>
          </a:p>
        </p:txBody>
      </p:sp>
      <p:sp>
        <p:nvSpPr>
          <p:cNvPr id="25" name="Freeform 25"/>
          <p:cNvSpPr/>
          <p:nvPr/>
        </p:nvSpPr>
        <p:spPr>
          <a:xfrm>
            <a:off x="8846344" y="2651125"/>
            <a:ext cx="256381" cy="241299"/>
          </a:xfrm>
          <a:custGeom>
            <a:avLst/>
            <a:gdLst/>
            <a:ahLst/>
            <a:cxnLst/>
            <a:rect l="l" t="t" r="r" b="b"/>
            <a:pathLst>
              <a:path w="256381" h="241299">
                <a:moveTo>
                  <a:pt x="196056" y="211137"/>
                </a:moveTo>
                <a:cubicBezTo>
                  <a:pt x="212714" y="211137"/>
                  <a:pt x="226218" y="224641"/>
                  <a:pt x="226218" y="241299"/>
                </a:cubicBezTo>
                <a:cubicBezTo>
                  <a:pt x="226218" y="224641"/>
                  <a:pt x="239722" y="211137"/>
                  <a:pt x="256381" y="211137"/>
                </a:cubicBezTo>
                <a:cubicBezTo>
                  <a:pt x="239722" y="211137"/>
                  <a:pt x="226218" y="197633"/>
                  <a:pt x="226218" y="180975"/>
                </a:cubicBezTo>
                <a:cubicBezTo>
                  <a:pt x="226218" y="197633"/>
                  <a:pt x="212714" y="211137"/>
                  <a:pt x="196056" y="211137"/>
                </a:cubicBezTo>
                <a:moveTo>
                  <a:pt x="196056" y="30162"/>
                </a:moveTo>
                <a:cubicBezTo>
                  <a:pt x="212714" y="30162"/>
                  <a:pt x="226218" y="43667"/>
                  <a:pt x="226218" y="60325"/>
                </a:cubicBezTo>
                <a:cubicBezTo>
                  <a:pt x="226218" y="43667"/>
                  <a:pt x="239722" y="30162"/>
                  <a:pt x="256381" y="30162"/>
                </a:cubicBezTo>
                <a:cubicBezTo>
                  <a:pt x="239722" y="30162"/>
                  <a:pt x="226218" y="16658"/>
                  <a:pt x="226218" y="0"/>
                </a:cubicBezTo>
                <a:cubicBezTo>
                  <a:pt x="226218" y="16658"/>
                  <a:pt x="212714" y="30162"/>
                  <a:pt x="196056" y="30162"/>
                </a:cubicBezTo>
                <a:moveTo>
                  <a:pt x="90487" y="211137"/>
                </a:moveTo>
                <a:cubicBezTo>
                  <a:pt x="90487" y="161162"/>
                  <a:pt x="131000" y="120650"/>
                  <a:pt x="180975" y="120650"/>
                </a:cubicBezTo>
                <a:cubicBezTo>
                  <a:pt x="131000" y="120650"/>
                  <a:pt x="90487" y="80137"/>
                  <a:pt x="90487" y="30162"/>
                </a:cubicBezTo>
                <a:cubicBezTo>
                  <a:pt x="90487" y="80137"/>
                  <a:pt x="49975" y="120650"/>
                  <a:pt x="0" y="120650"/>
                </a:cubicBezTo>
                <a:cubicBezTo>
                  <a:pt x="49975" y="120650"/>
                  <a:pt x="90487" y="161162"/>
                  <a:pt x="90487" y="211137"/>
                </a:cubicBezTo>
              </a:path>
            </a:pathLst>
          </a:custGeom>
          <a:noFill/>
          <a:ln w="30162">
            <a:solidFill>
              <a:srgbClr val="13A89E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344406" y="2628900"/>
            <a:ext cx="115363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2344D"/>
                </a:solidFill>
                <a:latin typeface="Arial"/>
                <a:ea typeface="Arial"/>
                <a:cs typeface="Arial"/>
              </a:rPr>
              <a:t>DeepSeek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94242" y="3127375"/>
            <a:ext cx="1899666" cy="5878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350" dirty="0">
                <a:solidFill>
                  <a:srgbClr val="18232C"/>
                </a:solidFill>
                <a:latin typeface="Arial"/>
                <a:ea typeface="Arial"/>
                <a:cs typeface="Arial"/>
              </a:rPr>
              <a:t>deepseek-flash</a:t>
            </a:r>
            <a:br>
              <a:rPr lang="en-US" sz="1350" dirty="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生成候选行动与深读建议</a:t>
            </a:r>
          </a:p>
        </p:txBody>
      </p:sp>
      <p:sp>
        <p:nvSpPr>
          <p:cNvPr id="28" name="Line 28"/>
          <p:cNvSpPr/>
          <p:nvPr/>
        </p:nvSpPr>
        <p:spPr>
          <a:xfrm>
            <a:off x="838200" y="5067300"/>
            <a:ext cx="10515600" cy="9525"/>
          </a:xfrm>
          <a:custGeom>
            <a:avLst/>
            <a:gdLst/>
            <a:ahLst/>
            <a:cxnLst/>
            <a:rect l="l" t="t" r="r" b="b"/>
            <a:pathLst>
              <a:path w="10515600" h="9525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grpSp>
        <p:nvGrpSpPr>
          <p:cNvPr id="31" name="Group 31"/>
          <p:cNvGrpSpPr/>
          <p:nvPr/>
        </p:nvGrpSpPr>
        <p:grpSpPr>
          <a:xfrm>
            <a:off x="915001" y="5417344"/>
            <a:ext cx="232508" cy="214312"/>
            <a:chOff x="915001" y="5417344"/>
            <a:chExt cx="232508" cy="214312"/>
          </a:xfrm>
        </p:grpSpPr>
        <p:sp>
          <p:nvSpPr>
            <p:cNvPr id="29" name="Freeform 29"/>
            <p:cNvSpPr/>
            <p:nvPr/>
          </p:nvSpPr>
          <p:spPr>
            <a:xfrm>
              <a:off x="915001" y="5417344"/>
              <a:ext cx="232508" cy="212479"/>
            </a:xfrm>
            <a:custGeom>
              <a:avLst/>
              <a:gdLst/>
              <a:ahLst/>
              <a:cxnLst/>
              <a:rect l="l" t="t" r="r" b="b"/>
              <a:pathLst>
                <a:path w="232508" h="212479">
                  <a:moveTo>
                    <a:pt x="116795" y="212479"/>
                  </a:moveTo>
                  <a:cubicBezTo>
                    <a:pt x="42208" y="189358"/>
                    <a:pt x="0" y="110638"/>
                    <a:pt x="22021" y="35719"/>
                  </a:cubicBezTo>
                  <a:cubicBezTo>
                    <a:pt x="59115" y="37416"/>
                    <a:pt x="95413" y="24605"/>
                    <a:pt x="123224" y="0"/>
                  </a:cubicBezTo>
                  <a:cubicBezTo>
                    <a:pt x="151035" y="24605"/>
                    <a:pt x="187333" y="37416"/>
                    <a:pt x="224427" y="35719"/>
                  </a:cubicBezTo>
                  <a:cubicBezTo>
                    <a:pt x="232508" y="63212"/>
                    <a:pt x="232135" y="92499"/>
                    <a:pt x="223356" y="119777"/>
                  </a:cubicBezTo>
                </a:path>
              </a:pathLst>
            </a:custGeom>
            <a:noFill/>
            <a:ln w="23812">
              <a:solidFill>
                <a:srgbClr val="13A89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73944" y="5584031"/>
              <a:ext cx="71438" cy="47625"/>
            </a:xfrm>
            <a:custGeom>
              <a:avLst/>
              <a:gdLst/>
              <a:ahLst/>
              <a:cxnLst/>
              <a:rect l="l" t="t" r="r" b="b"/>
              <a:pathLst>
                <a:path w="71438" h="47625">
                  <a:moveTo>
                    <a:pt x="0" y="23812"/>
                  </a:moveTo>
                  <a:lnTo>
                    <a:pt x="23812" y="47625"/>
                  </a:lnTo>
                  <a:lnTo>
                    <a:pt x="71438" y="0"/>
                  </a:lnTo>
                </a:path>
              </a:pathLst>
            </a:custGeom>
            <a:noFill/>
            <a:ln w="23812">
              <a:solidFill>
                <a:srgbClr val="13A89E"/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343406" y="5384800"/>
            <a:ext cx="65608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模型密钥保存在服务端；校验通过后才把结果交回用户核对。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5692" y="5788025"/>
            <a:ext cx="49206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通知只在用户发起解析、深读或对话时发送到服务端与模型。</a:t>
            </a:r>
          </a:p>
        </p:txBody>
      </p:sp>
      <p:sp>
        <p:nvSpPr>
          <p:cNvPr id="34" name="Line 34"/>
          <p:cNvSpPr/>
          <p:nvPr/>
        </p:nvSpPr>
        <p:spPr>
          <a:xfrm>
            <a:off x="685800" y="635317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78942" y="6473825"/>
            <a:ext cx="276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知行 · 智能移动应用开发项目实践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90523" y="6473825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942" y="254000"/>
            <a:ext cx="11700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07 / 容错设计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99431" y="25400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9798" y="685800"/>
            <a:ext cx="512064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失败时保留人工与本机路径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409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860471" y="1955006"/>
            <a:ext cx="263510" cy="242888"/>
            <a:chOff x="860471" y="1955006"/>
            <a:chExt cx="263510" cy="242888"/>
          </a:xfrm>
        </p:grpSpPr>
        <p:sp>
          <p:nvSpPr>
            <p:cNvPr id="6" name="Freeform 6"/>
            <p:cNvSpPr/>
            <p:nvPr/>
          </p:nvSpPr>
          <p:spPr>
            <a:xfrm>
              <a:off x="860471" y="1955006"/>
              <a:ext cx="263510" cy="240810"/>
            </a:xfrm>
            <a:custGeom>
              <a:avLst/>
              <a:gdLst/>
              <a:ahLst/>
              <a:cxnLst/>
              <a:rect l="l" t="t" r="r" b="b"/>
              <a:pathLst>
                <a:path w="263510" h="240810">
                  <a:moveTo>
                    <a:pt x="132368" y="240810"/>
                  </a:moveTo>
                  <a:cubicBezTo>
                    <a:pt x="47836" y="214607"/>
                    <a:pt x="0" y="125390"/>
                    <a:pt x="24957" y="40481"/>
                  </a:cubicBezTo>
                  <a:cubicBezTo>
                    <a:pt x="66998" y="42405"/>
                    <a:pt x="108135" y="27886"/>
                    <a:pt x="139655" y="0"/>
                  </a:cubicBezTo>
                  <a:cubicBezTo>
                    <a:pt x="171174" y="27886"/>
                    <a:pt x="212311" y="42405"/>
                    <a:pt x="254352" y="40481"/>
                  </a:cubicBezTo>
                  <a:cubicBezTo>
                    <a:pt x="263510" y="71640"/>
                    <a:pt x="263086" y="104832"/>
                    <a:pt x="253137" y="135747"/>
                  </a:cubicBez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40607" y="2143919"/>
              <a:ext cx="80963" cy="53975"/>
            </a:xfrm>
            <a:custGeom>
              <a:avLst/>
              <a:gdLst/>
              <a:ahLst/>
              <a:cxnLst/>
              <a:rect l="l" t="t" r="r" b="b"/>
              <a:pathLst>
                <a:path w="80963" h="53975">
                  <a:moveTo>
                    <a:pt x="0" y="26988"/>
                  </a:moveTo>
                  <a:lnTo>
                    <a:pt x="26988" y="53975"/>
                  </a:lnTo>
                  <a:lnTo>
                    <a:pt x="80963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324356" y="195580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模型输出校验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6642" y="2393950"/>
            <a:ext cx="2071116" cy="8355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结构与原文引用逐项检查。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深读不合格最多重试两次，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仍失败就明确报错。</a:t>
            </a:r>
          </a:p>
        </p:txBody>
      </p:sp>
      <p:sp>
        <p:nvSpPr>
          <p:cNvPr id="11" name="Line 11"/>
          <p:cNvSpPr/>
          <p:nvPr/>
        </p:nvSpPr>
        <p:spPr>
          <a:xfrm>
            <a:off x="838200" y="35623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6369489" y="1950523"/>
            <a:ext cx="272162" cy="233823"/>
            <a:chOff x="6369489" y="1950523"/>
            <a:chExt cx="272162" cy="233823"/>
          </a:xfrm>
        </p:grpSpPr>
        <p:sp>
          <p:nvSpPr>
            <p:cNvPr id="12" name="Freeform 12"/>
            <p:cNvSpPr/>
            <p:nvPr/>
          </p:nvSpPr>
          <p:spPr>
            <a:xfrm>
              <a:off x="6505575" y="2035969"/>
              <a:ext cx="9525" cy="53975"/>
            </a:xfrm>
            <a:custGeom>
              <a:avLst/>
              <a:gdLst/>
              <a:ahLst/>
              <a:cxnLst/>
              <a:rect l="l" t="t" r="r" b="b"/>
              <a:pathLst>
                <a:path w="9525" h="53975">
                  <a:moveTo>
                    <a:pt x="0" y="0"/>
                  </a:moveTo>
                  <a:lnTo>
                    <a:pt x="0" y="53975"/>
                  </a:lnTo>
                </a:path>
              </a:pathLst>
            </a:custGeom>
            <a:noFill/>
            <a:ln w="26988">
              <a:solidFill>
                <a:srgbClr val="F2B451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369489" y="1950523"/>
              <a:ext cx="272162" cy="233823"/>
            </a:xfrm>
            <a:custGeom>
              <a:avLst/>
              <a:gdLst/>
              <a:ahLst/>
              <a:cxnLst/>
              <a:rect l="l" t="t" r="r" b="b"/>
              <a:pathLst>
                <a:path w="272162" h="233823">
                  <a:moveTo>
                    <a:pt x="113997" y="12458"/>
                  </a:moveTo>
                  <a:lnTo>
                    <a:pt x="4616" y="195083"/>
                  </a:lnTo>
                  <a:cubicBezTo>
                    <a:pt x="28" y="203029"/>
                    <a:pt x="0" y="212812"/>
                    <a:pt x="4543" y="220785"/>
                  </a:cubicBezTo>
                  <a:cubicBezTo>
                    <a:pt x="9086" y="228757"/>
                    <a:pt x="17517" y="233720"/>
                    <a:pt x="26692" y="233823"/>
                  </a:cubicBezTo>
                  <a:lnTo>
                    <a:pt x="245480" y="233823"/>
                  </a:lnTo>
                  <a:cubicBezTo>
                    <a:pt x="254651" y="233717"/>
                    <a:pt x="263078" y="228756"/>
                    <a:pt x="267620" y="220788"/>
                  </a:cubicBezTo>
                  <a:cubicBezTo>
                    <a:pt x="272162" y="212820"/>
                    <a:pt x="272138" y="203041"/>
                    <a:pt x="267556" y="195096"/>
                  </a:cubicBezTo>
                  <a:lnTo>
                    <a:pt x="158176" y="12444"/>
                  </a:lnTo>
                  <a:cubicBezTo>
                    <a:pt x="153495" y="4719"/>
                    <a:pt x="145119" y="0"/>
                    <a:pt x="136086" y="0"/>
                  </a:cubicBezTo>
                  <a:cubicBezTo>
                    <a:pt x="127054" y="0"/>
                    <a:pt x="118677" y="4719"/>
                    <a:pt x="113997" y="12444"/>
                  </a:cubicBezTo>
                </a:path>
              </a:pathLst>
            </a:custGeom>
            <a:noFill/>
            <a:ln w="26988">
              <a:solidFill>
                <a:srgbClr val="F2B451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505575" y="2130426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35" y="0"/>
                  </a:lnTo>
                </a:path>
              </a:pathLst>
            </a:custGeom>
            <a:noFill/>
            <a:ln w="26988">
              <a:solidFill>
                <a:srgbClr val="F2B451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6829806" y="195580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信息缺失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32092" y="2393950"/>
            <a:ext cx="2242566" cy="8355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原文没有时间就保留空缺。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用户可查看原文、手动修改，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再决定是否保存。</a:t>
            </a:r>
          </a:p>
        </p:txBody>
      </p:sp>
      <p:sp>
        <p:nvSpPr>
          <p:cNvPr id="18" name="Line 18"/>
          <p:cNvSpPr/>
          <p:nvPr/>
        </p:nvSpPr>
        <p:spPr>
          <a:xfrm>
            <a:off x="6343650" y="35623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905669" y="3987800"/>
            <a:ext cx="202407" cy="229394"/>
            <a:chOff x="905669" y="3987800"/>
            <a:chExt cx="202407" cy="229394"/>
          </a:xfrm>
        </p:grpSpPr>
        <p:sp>
          <p:nvSpPr>
            <p:cNvPr id="19" name="Freeform 19"/>
            <p:cNvSpPr/>
            <p:nvPr/>
          </p:nvSpPr>
          <p:spPr>
            <a:xfrm>
              <a:off x="905669" y="3987800"/>
              <a:ext cx="161925" cy="215901"/>
            </a:xfrm>
            <a:custGeom>
              <a:avLst/>
              <a:gdLst/>
              <a:ahLst/>
              <a:cxnLst/>
              <a:rect l="l" t="t" r="r" b="b"/>
              <a:pathLst>
                <a:path w="161925" h="215901">
                  <a:moveTo>
                    <a:pt x="62274" y="215901"/>
                  </a:moveTo>
                  <a:lnTo>
                    <a:pt x="26988" y="215901"/>
                  </a:lnTo>
                  <a:cubicBezTo>
                    <a:pt x="12083" y="215901"/>
                    <a:pt x="0" y="203818"/>
                    <a:pt x="0" y="188913"/>
                  </a:cubicBezTo>
                  <a:lnTo>
                    <a:pt x="0" y="26988"/>
                  </a:lnTo>
                  <a:cubicBezTo>
                    <a:pt x="0" y="12083"/>
                    <a:pt x="12083" y="0"/>
                    <a:pt x="26988" y="0"/>
                  </a:cubicBezTo>
                  <a:lnTo>
                    <a:pt x="134938" y="0"/>
                  </a:lnTo>
                  <a:cubicBezTo>
                    <a:pt x="149843" y="0"/>
                    <a:pt x="161925" y="12083"/>
                    <a:pt x="161925" y="26988"/>
                  </a:cubicBezTo>
                  <a:lnTo>
                    <a:pt x="161925" y="134938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27113" y="4163219"/>
              <a:ext cx="80963" cy="53975"/>
            </a:xfrm>
            <a:custGeom>
              <a:avLst/>
              <a:gdLst/>
              <a:ahLst/>
              <a:cxnLst/>
              <a:rect l="l" t="t" r="r" b="b"/>
              <a:pathLst>
                <a:path w="80963" h="53975">
                  <a:moveTo>
                    <a:pt x="0" y="26988"/>
                  </a:moveTo>
                  <a:lnTo>
                    <a:pt x="26988" y="53975"/>
                  </a:lnTo>
                  <a:lnTo>
                    <a:pt x="80963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59644" y="4041775"/>
              <a:ext cx="53975" cy="9525"/>
            </a:xfrm>
            <a:custGeom>
              <a:avLst/>
              <a:gdLst/>
              <a:ahLst/>
              <a:cxnLst/>
              <a:rect l="l" t="t" r="r" b="b"/>
              <a:pathLst>
                <a:path w="53975" h="9525">
                  <a:moveTo>
                    <a:pt x="0" y="0"/>
                  </a:moveTo>
                  <a:lnTo>
                    <a:pt x="53975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59644" y="4095750"/>
              <a:ext cx="26988" cy="9525"/>
            </a:xfrm>
            <a:custGeom>
              <a:avLst/>
              <a:gdLst/>
              <a:ahLst/>
              <a:cxnLst/>
              <a:rect l="l" t="t" r="r" b="b"/>
              <a:pathLst>
                <a:path w="26988" h="9525">
                  <a:moveTo>
                    <a:pt x="0" y="0"/>
                  </a:moveTo>
                  <a:lnTo>
                    <a:pt x="26988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324356" y="397510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离线任务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6642" y="4413250"/>
            <a:ext cx="2071116" cy="8355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已保存任务留在本机。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无网络时仍可查看和编辑，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AI服务不可用会单独提示。</a:t>
            </a:r>
          </a:p>
        </p:txBody>
      </p:sp>
      <p:sp>
        <p:nvSpPr>
          <p:cNvPr id="26" name="Line 26"/>
          <p:cNvSpPr/>
          <p:nvPr/>
        </p:nvSpPr>
        <p:spPr>
          <a:xfrm>
            <a:off x="838200" y="55816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6411119" y="3974306"/>
            <a:ext cx="188913" cy="242888"/>
            <a:chOff x="6411119" y="3974306"/>
            <a:chExt cx="188913" cy="242888"/>
          </a:xfrm>
        </p:grpSpPr>
        <p:sp>
          <p:nvSpPr>
            <p:cNvPr id="27" name="Freeform 27"/>
            <p:cNvSpPr/>
            <p:nvPr/>
          </p:nvSpPr>
          <p:spPr>
            <a:xfrm>
              <a:off x="6532563" y="3974306"/>
              <a:ext cx="67469" cy="67469"/>
            </a:xfrm>
            <a:custGeom>
              <a:avLst/>
              <a:gdLst/>
              <a:ahLst/>
              <a:cxnLst/>
              <a:rect l="l" t="t" r="r" b="b"/>
              <a:pathLst>
                <a:path w="67469" h="67469">
                  <a:moveTo>
                    <a:pt x="0" y="0"/>
                  </a:moveTo>
                  <a:lnTo>
                    <a:pt x="0" y="53975"/>
                  </a:lnTo>
                  <a:cubicBezTo>
                    <a:pt x="0" y="61428"/>
                    <a:pt x="6041" y="67469"/>
                    <a:pt x="13494" y="67469"/>
                  </a:cubicBezTo>
                  <a:lnTo>
                    <a:pt x="67469" y="67469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411119" y="3974306"/>
              <a:ext cx="188913" cy="242888"/>
            </a:xfrm>
            <a:custGeom>
              <a:avLst/>
              <a:gdLst/>
              <a:ahLst/>
              <a:cxnLst/>
              <a:rect l="l" t="t" r="r" b="b"/>
              <a:pathLst>
                <a:path w="188913" h="242888">
                  <a:moveTo>
                    <a:pt x="161925" y="242888"/>
                  </a:moveTo>
                  <a:lnTo>
                    <a:pt x="26988" y="242888"/>
                  </a:lnTo>
                  <a:cubicBezTo>
                    <a:pt x="12083" y="242888"/>
                    <a:pt x="0" y="230805"/>
                    <a:pt x="0" y="215901"/>
                  </a:cubicBezTo>
                  <a:lnTo>
                    <a:pt x="0" y="26988"/>
                  </a:lnTo>
                  <a:cubicBezTo>
                    <a:pt x="0" y="12083"/>
                    <a:pt x="12083" y="0"/>
                    <a:pt x="26988" y="0"/>
                  </a:cubicBezTo>
                  <a:lnTo>
                    <a:pt x="121444" y="0"/>
                  </a:lnTo>
                  <a:lnTo>
                    <a:pt x="188913" y="67469"/>
                  </a:lnTo>
                  <a:lnTo>
                    <a:pt x="188913" y="215901"/>
                  </a:lnTo>
                  <a:cubicBezTo>
                    <a:pt x="188913" y="230805"/>
                    <a:pt x="176830" y="242888"/>
                    <a:pt x="161925" y="242888"/>
                  </a:cubicBez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465094" y="4055269"/>
              <a:ext cx="13494" cy="9525"/>
            </a:xfrm>
            <a:custGeom>
              <a:avLst/>
              <a:gdLst/>
              <a:ahLst/>
              <a:cxnLst/>
              <a:rect l="l" t="t" r="r" b="b"/>
              <a:pathLst>
                <a:path w="13494" h="9525">
                  <a:moveTo>
                    <a:pt x="0" y="0"/>
                  </a:moveTo>
                  <a:lnTo>
                    <a:pt x="13494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465094" y="4109244"/>
              <a:ext cx="80963" cy="9525"/>
            </a:xfrm>
            <a:custGeom>
              <a:avLst/>
              <a:gdLst/>
              <a:ahLst/>
              <a:cxnLst/>
              <a:rect l="l" t="t" r="r" b="b"/>
              <a:pathLst>
                <a:path w="80963" h="9525">
                  <a:moveTo>
                    <a:pt x="0" y="0"/>
                  </a:moveTo>
                  <a:lnTo>
                    <a:pt x="80963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465094" y="4163219"/>
              <a:ext cx="80963" cy="9525"/>
            </a:xfrm>
            <a:custGeom>
              <a:avLst/>
              <a:gdLst/>
              <a:ahLst/>
              <a:cxnLst/>
              <a:rect l="l" t="t" r="r" b="b"/>
              <a:pathLst>
                <a:path w="80963" h="9525">
                  <a:moveTo>
                    <a:pt x="0" y="0"/>
                  </a:moveTo>
                  <a:lnTo>
                    <a:pt x="80963" y="0"/>
                  </a:lnTo>
                </a:path>
              </a:pathLst>
            </a:custGeom>
            <a:noFill/>
            <a:ln w="26988">
              <a:solidFill>
                <a:srgbClr val="13A89E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6829806" y="397510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文档边界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32092" y="4413250"/>
            <a:ext cx="2774061" cy="8355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单文件不超过20 MB。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PDF最多80页；扫描OCR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单次最多10页，效果受清晰度影响。</a:t>
            </a:r>
          </a:p>
        </p:txBody>
      </p:sp>
      <p:sp>
        <p:nvSpPr>
          <p:cNvPr id="35" name="Line 35"/>
          <p:cNvSpPr/>
          <p:nvPr/>
        </p:nvSpPr>
        <p:spPr>
          <a:xfrm>
            <a:off x="6343650" y="55816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31342" y="5911850"/>
            <a:ext cx="49206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优先保留原文、错误提示和人工核对入口，不伪造完整答案。</a:t>
            </a:r>
          </a:p>
        </p:txBody>
      </p:sp>
      <p:sp>
        <p:nvSpPr>
          <p:cNvPr id="37" name="Line 37"/>
          <p:cNvSpPr/>
          <p:nvPr/>
        </p:nvSpPr>
        <p:spPr>
          <a:xfrm>
            <a:off x="685800" y="635317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78942" y="6473825"/>
            <a:ext cx="276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知行 · 智能移动应用开发项目实践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90523" y="6473825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942" y="254000"/>
            <a:ext cx="13517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08 / 测试与验收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99431" y="25400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9798" y="685800"/>
            <a:ext cx="512064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测试记录覆盖核心交付路径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409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38200" y="2730500"/>
            <a:ext cx="924371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3A89E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7156" y="372745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项自动化测试通过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9442" y="4235450"/>
            <a:ext cx="17038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服务端 pytest 48 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9442" y="4540250"/>
            <a:ext cx="15147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移动端 Node 34 项</a:t>
            </a:r>
          </a:p>
        </p:txBody>
      </p:sp>
      <p:sp>
        <p:nvSpPr>
          <p:cNvPr id="10" name="Line 10"/>
          <p:cNvSpPr/>
          <p:nvPr/>
        </p:nvSpPr>
        <p:spPr>
          <a:xfrm>
            <a:off x="3524250" y="1885950"/>
            <a:ext cx="9525" cy="3543300"/>
          </a:xfrm>
          <a:custGeom>
            <a:avLst/>
            <a:gdLst/>
            <a:ahLst/>
            <a:cxnLst/>
            <a:rect l="l" t="t" r="r" b="b"/>
            <a:pathLst>
              <a:path w="9525" h="3543300">
                <a:moveTo>
                  <a:pt x="0" y="0"/>
                </a:moveTo>
                <a:lnTo>
                  <a:pt x="0" y="3543300"/>
                </a:lnTo>
              </a:path>
            </a:pathLst>
          </a:custGeom>
          <a:noFill/>
          <a:ln w="19050">
            <a:solidFill>
              <a:srgbClr val="D5E1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83558" y="180340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构建与真机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174331" y="2571750"/>
            <a:ext cx="178595" cy="202406"/>
            <a:chOff x="4174331" y="2571750"/>
            <a:chExt cx="178595" cy="202406"/>
          </a:xfrm>
        </p:grpSpPr>
        <p:sp>
          <p:nvSpPr>
            <p:cNvPr id="12" name="Freeform 12"/>
            <p:cNvSpPr/>
            <p:nvPr/>
          </p:nvSpPr>
          <p:spPr>
            <a:xfrm>
              <a:off x="4174331" y="2571750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54947" y="190500"/>
                  </a:moveTo>
                  <a:lnTo>
                    <a:pt x="23812" y="190500"/>
                  </a:lnTo>
                  <a:cubicBezTo>
                    <a:pt x="10661" y="190500"/>
                    <a:pt x="0" y="179839"/>
                    <a:pt x="0" y="166688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119062"/>
                  </a:lnTo>
                </a:path>
              </a:pathLst>
            </a:custGeom>
            <a:noFill/>
            <a:ln w="23812">
              <a:solidFill>
                <a:srgbClr val="13A89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281488" y="2726531"/>
              <a:ext cx="71438" cy="47625"/>
            </a:xfrm>
            <a:custGeom>
              <a:avLst/>
              <a:gdLst/>
              <a:ahLst/>
              <a:cxnLst/>
              <a:rect l="l" t="t" r="r" b="b"/>
              <a:pathLst>
                <a:path w="71438" h="47625">
                  <a:moveTo>
                    <a:pt x="0" y="23812"/>
                  </a:moveTo>
                  <a:lnTo>
                    <a:pt x="23812" y="47625"/>
                  </a:lnTo>
                  <a:lnTo>
                    <a:pt x="71438" y="0"/>
                  </a:lnTo>
                </a:path>
              </a:pathLst>
            </a:custGeom>
            <a:noFill/>
            <a:ln w="23812">
              <a:solidFill>
                <a:srgbClr val="13A89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21956" y="261937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23812">
              <a:solidFill>
                <a:srgbClr val="13A89E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221956" y="2667000"/>
              <a:ext cx="23812" cy="9525"/>
            </a:xfrm>
            <a:custGeom>
              <a:avLst/>
              <a:gdLst/>
              <a:ahLst/>
              <a:cxnLst/>
              <a:rect l="l" t="t" r="r" b="b"/>
              <a:pathLst>
                <a:path w="23812" h="9525">
                  <a:moveTo>
                    <a:pt x="0" y="0"/>
                  </a:moveTo>
                  <a:lnTo>
                    <a:pt x="23812" y="0"/>
                  </a:lnTo>
                </a:path>
              </a:pathLst>
            </a:custGeom>
            <a:noFill/>
            <a:ln w="23812">
              <a:solidFill>
                <a:srgbClr val="13A89E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4562856" y="2536825"/>
            <a:ext cx="262844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H5 与 App 资源构建通过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186238" y="3159919"/>
            <a:ext cx="142875" cy="214312"/>
            <a:chOff x="4186238" y="3159919"/>
            <a:chExt cx="142875" cy="214312"/>
          </a:xfrm>
        </p:grpSpPr>
        <p:sp>
          <p:nvSpPr>
            <p:cNvPr id="18" name="Freeform 18"/>
            <p:cNvSpPr/>
            <p:nvPr/>
          </p:nvSpPr>
          <p:spPr>
            <a:xfrm>
              <a:off x="4186238" y="3159919"/>
              <a:ext cx="142875" cy="214312"/>
            </a:xfrm>
            <a:custGeom>
              <a:avLst/>
              <a:gdLst/>
              <a:ahLst/>
              <a:cxnLst/>
              <a:rect l="l" t="t" r="r" b="b"/>
              <a:pathLst>
                <a:path w="142875" h="214312">
                  <a:moveTo>
                    <a:pt x="0" y="23812"/>
                  </a:move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190500"/>
                  </a:lnTo>
                  <a:cubicBezTo>
                    <a:pt x="142875" y="203651"/>
                    <a:pt x="132214" y="214312"/>
                    <a:pt x="119062" y="214312"/>
                  </a:cubicBezTo>
                  <a:lnTo>
                    <a:pt x="23812" y="214312"/>
                  </a:lnTo>
                  <a:cubicBezTo>
                    <a:pt x="10661" y="214312"/>
                    <a:pt x="0" y="203651"/>
                    <a:pt x="0" y="190500"/>
                  </a:cubicBezTo>
                  <a:lnTo>
                    <a:pt x="0" y="23812"/>
                  </a:lnTo>
                </a:path>
              </a:pathLst>
            </a:custGeom>
            <a:noFill/>
            <a:ln w="23812">
              <a:solidFill>
                <a:srgbClr val="13A89E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245769" y="3171825"/>
              <a:ext cx="23812" cy="9525"/>
            </a:xfrm>
            <a:custGeom>
              <a:avLst/>
              <a:gdLst/>
              <a:ahLst/>
              <a:cxnLst/>
              <a:rect l="l" t="t" r="r" b="b"/>
              <a:pathLst>
                <a:path w="23812" h="9525">
                  <a:moveTo>
                    <a:pt x="0" y="0"/>
                  </a:moveTo>
                  <a:lnTo>
                    <a:pt x="23812" y="0"/>
                  </a:lnTo>
                </a:path>
              </a:pathLst>
            </a:custGeom>
            <a:noFill/>
            <a:ln w="23812">
              <a:solidFill>
                <a:srgbClr val="13A89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257675" y="3326606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19"/>
                  </a:lnTo>
                </a:path>
              </a:pathLst>
            </a:custGeom>
            <a:noFill/>
            <a:ln w="23812">
              <a:solidFill>
                <a:srgbClr val="13A89E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4562856" y="3098800"/>
            <a:ext cx="2990088" cy="6758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800" dirty="0">
                <a:solidFill>
                  <a:srgbClr val="18232C"/>
                </a:solidFill>
                <a:latin typeface="Arial"/>
                <a:ea typeface="Arial"/>
                <a:cs typeface="Arial"/>
              </a:rPr>
              <a:t>Android 15 · iQOO 9</a:t>
            </a:r>
            <a:br>
              <a:rPr lang="en-US" sz="1800" dirty="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覆盖升级后原有本机数据保留</a:t>
            </a:r>
          </a:p>
        </p:txBody>
      </p:sp>
      <p:sp>
        <p:nvSpPr>
          <p:cNvPr id="23" name="Freeform 23"/>
          <p:cNvSpPr/>
          <p:nvPr/>
        </p:nvSpPr>
        <p:spPr>
          <a:xfrm>
            <a:off x="4150519" y="4057650"/>
            <a:ext cx="202406" cy="190500"/>
          </a:xfrm>
          <a:custGeom>
            <a:avLst/>
            <a:gdLst/>
            <a:ahLst/>
            <a:cxnLst/>
            <a:rect l="l" t="t" r="r" b="b"/>
            <a:pathLst>
              <a:path w="202406" h="190500">
                <a:moveTo>
                  <a:pt x="154781" y="166688"/>
                </a:moveTo>
                <a:cubicBezTo>
                  <a:pt x="167933" y="166688"/>
                  <a:pt x="178594" y="177349"/>
                  <a:pt x="178594" y="190500"/>
                </a:cubicBezTo>
                <a:cubicBezTo>
                  <a:pt x="178594" y="177349"/>
                  <a:pt x="189255" y="166688"/>
                  <a:pt x="202406" y="166688"/>
                </a:cubicBezTo>
                <a:cubicBezTo>
                  <a:pt x="189255" y="166688"/>
                  <a:pt x="178594" y="156026"/>
                  <a:pt x="178594" y="142875"/>
                </a:cubicBezTo>
                <a:cubicBezTo>
                  <a:pt x="178594" y="156026"/>
                  <a:pt x="167933" y="166688"/>
                  <a:pt x="154781" y="166688"/>
                </a:cubicBezTo>
                <a:moveTo>
                  <a:pt x="154781" y="23812"/>
                </a:moveTo>
                <a:cubicBezTo>
                  <a:pt x="167933" y="23812"/>
                  <a:pt x="178594" y="34474"/>
                  <a:pt x="178594" y="47625"/>
                </a:cubicBezTo>
                <a:cubicBezTo>
                  <a:pt x="178594" y="34474"/>
                  <a:pt x="189255" y="23812"/>
                  <a:pt x="202406" y="23812"/>
                </a:cubicBezTo>
                <a:cubicBezTo>
                  <a:pt x="189255" y="23812"/>
                  <a:pt x="178594" y="13151"/>
                  <a:pt x="178594" y="0"/>
                </a:cubicBezTo>
                <a:cubicBezTo>
                  <a:pt x="178594" y="13151"/>
                  <a:pt x="167933" y="23812"/>
                  <a:pt x="154781" y="23812"/>
                </a:cubicBezTo>
                <a:moveTo>
                  <a:pt x="71438" y="166688"/>
                </a:moveTo>
                <a:cubicBezTo>
                  <a:pt x="71438" y="127234"/>
                  <a:pt x="103421" y="95250"/>
                  <a:pt x="142875" y="95250"/>
                </a:cubicBezTo>
                <a:cubicBezTo>
                  <a:pt x="103421" y="95250"/>
                  <a:pt x="71438" y="63266"/>
                  <a:pt x="71438" y="23812"/>
                </a:cubicBezTo>
                <a:cubicBezTo>
                  <a:pt x="71438" y="63266"/>
                  <a:pt x="39454" y="95250"/>
                  <a:pt x="0" y="95250"/>
                </a:cubicBezTo>
                <a:cubicBezTo>
                  <a:pt x="39454" y="95250"/>
                  <a:pt x="71438" y="127234"/>
                  <a:pt x="71438" y="166688"/>
                </a:cubicBezTo>
              </a:path>
            </a:pathLst>
          </a:custGeom>
          <a:noFill/>
          <a:ln w="23812">
            <a:solidFill>
              <a:srgbClr val="13A89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562856" y="3994150"/>
            <a:ext cx="2155698" cy="6758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550"/>
              </a:lnSpc>
            </a:pP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同一条 2,984 字通知</a:t>
            </a:r>
            <a:b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AI深读连续3次成功</a:t>
            </a:r>
          </a:p>
        </p:txBody>
      </p:sp>
      <p:sp>
        <p:nvSpPr>
          <p:cNvPr id="25" name="Line 25"/>
          <p:cNvSpPr/>
          <p:nvPr/>
        </p:nvSpPr>
        <p:spPr>
          <a:xfrm>
            <a:off x="4095750" y="50482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9050">
            <a:solidFill>
              <a:srgbClr val="F2B45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088892" y="5213350"/>
            <a:ext cx="3271266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这是单条样例抽查，不代表整体准确率。</a:t>
            </a:r>
            <a:b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日历只验证预填编辑页，未保存真实事件。</a:t>
            </a:r>
          </a:p>
        </p:txBody>
      </p:sp>
      <p:sp>
        <p:nvSpPr>
          <p:cNvPr id="27" name="Line 27"/>
          <p:cNvSpPr/>
          <p:nvPr/>
        </p:nvSpPr>
        <p:spPr>
          <a:xfrm>
            <a:off x="685800" y="635317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78942" y="6473825"/>
            <a:ext cx="276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知行 · 智能移动应用开发项目实践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90523" y="6473825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942" y="254000"/>
            <a:ext cx="13517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09 / 发布与边界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99431" y="25400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9798" y="685800"/>
            <a:ext cx="681685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线上发布已完成，部分行为仍待验证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409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29056" y="1641475"/>
            <a:ext cx="17647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已发布 / 已验收</a:t>
            </a:r>
          </a:p>
        </p:txBody>
      </p:sp>
      <p:sp>
        <p:nvSpPr>
          <p:cNvPr id="7" name="Line 7"/>
          <p:cNvSpPr/>
          <p:nvPr/>
        </p:nvSpPr>
        <p:spPr>
          <a:xfrm>
            <a:off x="838200" y="2095500"/>
            <a:ext cx="4781550" cy="9525"/>
          </a:xfrm>
          <a:custGeom>
            <a:avLst/>
            <a:gdLst/>
            <a:ahLst/>
            <a:cxnLst/>
            <a:rect l="l" t="t" r="r" b="b"/>
            <a:pathLst>
              <a:path w="4781550" h="9525">
                <a:moveTo>
                  <a:pt x="0" y="0"/>
                </a:moveTo>
                <a:lnTo>
                  <a:pt x="4781550" y="0"/>
                </a:lnTo>
              </a:path>
            </a:pathLst>
          </a:custGeom>
          <a:noFill/>
          <a:ln w="19050">
            <a:solidFill>
              <a:srgbClr val="13A89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31342" y="2406650"/>
            <a:ext cx="99214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HTTPS 网站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6008" y="2641600"/>
            <a:ext cx="234819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2344D"/>
                </a:solidFill>
                <a:latin typeface="Arial"/>
                <a:ea typeface="Arial"/>
                <a:cs typeface="Arial"/>
              </a:rPr>
              <a:t>tiredwhite.cn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342" y="3302000"/>
            <a:ext cx="10967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Android APK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9056" y="3600450"/>
            <a:ext cx="29976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2344D"/>
                </a:solidFill>
                <a:latin typeface="Arial"/>
                <a:ea typeface="Arial"/>
                <a:cs typeface="Arial"/>
              </a:rPr>
              <a:t>0.3.8 · versionCode 308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1342" y="4146550"/>
            <a:ext cx="1899666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公网下载包与本机签名包</a:t>
            </a:r>
            <a:b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SHA-256一致。</a:t>
            </a:r>
          </a:p>
        </p:txBody>
      </p:sp>
      <p:sp>
        <p:nvSpPr>
          <p:cNvPr id="13" name="Line 13"/>
          <p:cNvSpPr/>
          <p:nvPr/>
        </p:nvSpPr>
        <p:spPr>
          <a:xfrm>
            <a:off x="6076950" y="1771650"/>
            <a:ext cx="9525" cy="4019550"/>
          </a:xfrm>
          <a:custGeom>
            <a:avLst/>
            <a:gdLst/>
            <a:ahLst/>
            <a:cxnLst/>
            <a:rect l="l" t="t" r="r" b="b"/>
            <a:pathLst>
              <a:path w="9525" h="4019550">
                <a:moveTo>
                  <a:pt x="0" y="0"/>
                </a:moveTo>
                <a:lnTo>
                  <a:pt x="0" y="4019550"/>
                </a:lnTo>
              </a:path>
            </a:pathLst>
          </a:custGeom>
          <a:noFill/>
          <a:ln w="19050">
            <a:solidFill>
              <a:srgbClr val="D5E1E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601206" y="1641475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2B451"/>
                </a:solidFill>
                <a:latin typeface="Arial"/>
                <a:ea typeface="Microsoft YaHei"/>
                <a:cs typeface="Arial"/>
              </a:rPr>
              <a:t>仍需继续验证</a:t>
            </a:r>
          </a:p>
        </p:txBody>
      </p:sp>
      <p:sp>
        <p:nvSpPr>
          <p:cNvPr id="15" name="Line 15"/>
          <p:cNvSpPr/>
          <p:nvPr/>
        </p:nvSpPr>
        <p:spPr>
          <a:xfrm>
            <a:off x="6610350" y="2095500"/>
            <a:ext cx="4743450" cy="9525"/>
          </a:xfrm>
          <a:custGeom>
            <a:avLst/>
            <a:gdLst/>
            <a:ahLst/>
            <a:cxnLst/>
            <a:rect l="l" t="t" r="r" b="b"/>
            <a:pathLst>
              <a:path w="4743450" h="9525">
                <a:moveTo>
                  <a:pt x="0" y="0"/>
                </a:moveTo>
                <a:lnTo>
                  <a:pt x="4743450" y="0"/>
                </a:lnTo>
              </a:path>
            </a:pathLst>
          </a:custGeom>
          <a:noFill/>
          <a:ln w="19050">
            <a:solidFill>
              <a:srgbClr val="F2B451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6667500" y="2590800"/>
            <a:ext cx="95250" cy="95250"/>
          </a:xfrm>
          <a:prstGeom prst="ellipse">
            <a:avLst/>
          </a:prstGeom>
          <a:solidFill>
            <a:srgbClr val="F2B45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925056" y="2498725"/>
            <a:ext cx="38953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系统日历事件的真实保存与提醒送达</a:t>
            </a:r>
          </a:p>
        </p:txBody>
      </p:sp>
      <p:sp>
        <p:nvSpPr>
          <p:cNvPr id="18" name="Ellipse 18"/>
          <p:cNvSpPr/>
          <p:nvPr/>
        </p:nvSpPr>
        <p:spPr>
          <a:xfrm>
            <a:off x="6667500" y="3429000"/>
            <a:ext cx="95250" cy="95250"/>
          </a:xfrm>
          <a:prstGeom prst="ellipse">
            <a:avLst/>
          </a:prstGeom>
          <a:solidFill>
            <a:srgbClr val="F2B45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925056" y="3336925"/>
            <a:ext cx="38843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多类型真实扫描件上的OCR识别质量</a:t>
            </a:r>
          </a:p>
        </p:txBody>
      </p:sp>
      <p:sp>
        <p:nvSpPr>
          <p:cNvPr id="20" name="Ellipse 20"/>
          <p:cNvSpPr/>
          <p:nvPr/>
        </p:nvSpPr>
        <p:spPr>
          <a:xfrm>
            <a:off x="6667500" y="4267200"/>
            <a:ext cx="95250" cy="95250"/>
          </a:xfrm>
          <a:prstGeom prst="ellipse">
            <a:avLst/>
          </a:prstGeom>
          <a:solidFill>
            <a:srgbClr val="F2B45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925056" y="4175125"/>
            <a:ext cx="33860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冻结通知集上的正式AI效果评估</a:t>
            </a:r>
          </a:p>
        </p:txBody>
      </p:sp>
      <p:sp>
        <p:nvSpPr>
          <p:cNvPr id="22" name="Line 22"/>
          <p:cNvSpPr/>
          <p:nvPr/>
        </p:nvSpPr>
        <p:spPr>
          <a:xfrm>
            <a:off x="6610350" y="5162550"/>
            <a:ext cx="4743450" cy="9525"/>
          </a:xfrm>
          <a:custGeom>
            <a:avLst/>
            <a:gdLst/>
            <a:ahLst/>
            <a:cxnLst/>
            <a:rect l="l" t="t" r="r" b="b"/>
            <a:pathLst>
              <a:path w="4743450" h="9525">
                <a:moveTo>
                  <a:pt x="0" y="0"/>
                </a:moveTo>
                <a:lnTo>
                  <a:pt x="474345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03492" y="5327650"/>
            <a:ext cx="2585466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本次不含校园知识库、账号云同步</a:t>
            </a:r>
            <a:b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或AI自动提交事务。</a:t>
            </a:r>
          </a:p>
        </p:txBody>
      </p:sp>
      <p:sp>
        <p:nvSpPr>
          <p:cNvPr id="24" name="Line 24"/>
          <p:cNvSpPr/>
          <p:nvPr/>
        </p:nvSpPr>
        <p:spPr>
          <a:xfrm>
            <a:off x="685800" y="635317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78942" y="6473825"/>
            <a:ext cx="276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知行 · 智能移动应用开发项目实践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90523" y="6473825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5142" y="425450"/>
            <a:ext cx="13235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知行 · 项目结论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14323" y="425450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07789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8763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5E1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42950" y="1809750"/>
            <a:ext cx="2966085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建议可追溯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2950" y="2533650"/>
            <a:ext cx="4137279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13A89E"/>
                </a:solidFill>
                <a:latin typeface="Arial"/>
                <a:ea typeface="Microsoft YaHei"/>
                <a:cs typeface="Arial"/>
              </a:rPr>
              <a:t>行动由学生确认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856" y="3663950"/>
            <a:ext cx="4818888" cy="7139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850"/>
              </a:lnSpc>
            </a:pP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AI解释通知并提出候选步骤，</a:t>
            </a:r>
            <a:b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18232C"/>
                </a:solidFill>
                <a:latin typeface="Arial"/>
                <a:ea typeface="Microsoft YaHei"/>
                <a:cs typeface="Arial"/>
              </a:rPr>
              <a:t>原文引用支持核对，人工确认连接建议与行动。</a:t>
            </a:r>
          </a:p>
        </p:txBody>
      </p:sp>
      <p:sp>
        <p:nvSpPr>
          <p:cNvPr id="8" name="Line 8"/>
          <p:cNvSpPr/>
          <p:nvPr/>
        </p:nvSpPr>
        <p:spPr>
          <a:xfrm>
            <a:off x="762000" y="5105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D5E1E8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73919" y="5495925"/>
            <a:ext cx="202406" cy="190500"/>
          </a:xfrm>
          <a:custGeom>
            <a:avLst/>
            <a:gdLst/>
            <a:ahLst/>
            <a:cxnLst/>
            <a:rect l="l" t="t" r="r" b="b"/>
            <a:pathLst>
              <a:path w="202406" h="190500">
                <a:moveTo>
                  <a:pt x="154781" y="166688"/>
                </a:moveTo>
                <a:cubicBezTo>
                  <a:pt x="167933" y="166688"/>
                  <a:pt x="178594" y="177349"/>
                  <a:pt x="178594" y="190500"/>
                </a:cubicBezTo>
                <a:cubicBezTo>
                  <a:pt x="178594" y="177349"/>
                  <a:pt x="189255" y="166688"/>
                  <a:pt x="202406" y="166688"/>
                </a:cubicBezTo>
                <a:cubicBezTo>
                  <a:pt x="189255" y="166688"/>
                  <a:pt x="178594" y="156026"/>
                  <a:pt x="178594" y="142875"/>
                </a:cubicBezTo>
                <a:cubicBezTo>
                  <a:pt x="178594" y="156026"/>
                  <a:pt x="167933" y="166688"/>
                  <a:pt x="154781" y="166688"/>
                </a:cubicBezTo>
                <a:moveTo>
                  <a:pt x="154781" y="23812"/>
                </a:moveTo>
                <a:cubicBezTo>
                  <a:pt x="167933" y="23812"/>
                  <a:pt x="178594" y="34474"/>
                  <a:pt x="178594" y="47625"/>
                </a:cubicBezTo>
                <a:cubicBezTo>
                  <a:pt x="178594" y="34474"/>
                  <a:pt x="189255" y="23812"/>
                  <a:pt x="202406" y="23812"/>
                </a:cubicBezTo>
                <a:cubicBezTo>
                  <a:pt x="189255" y="23812"/>
                  <a:pt x="178594" y="13151"/>
                  <a:pt x="178594" y="0"/>
                </a:cubicBezTo>
                <a:cubicBezTo>
                  <a:pt x="178594" y="13151"/>
                  <a:pt x="167933" y="23812"/>
                  <a:pt x="154781" y="23812"/>
                </a:cubicBezTo>
                <a:moveTo>
                  <a:pt x="71438" y="166688"/>
                </a:moveTo>
                <a:cubicBezTo>
                  <a:pt x="71438" y="127234"/>
                  <a:pt x="103421" y="95250"/>
                  <a:pt x="142875" y="95250"/>
                </a:cubicBezTo>
                <a:cubicBezTo>
                  <a:pt x="103421" y="95250"/>
                  <a:pt x="71438" y="63266"/>
                  <a:pt x="71438" y="23812"/>
                </a:cubicBezTo>
                <a:cubicBezTo>
                  <a:pt x="71438" y="63266"/>
                  <a:pt x="39454" y="95250"/>
                  <a:pt x="0" y="95250"/>
                </a:cubicBezTo>
                <a:cubicBezTo>
                  <a:pt x="39454" y="95250"/>
                  <a:pt x="71438" y="127234"/>
                  <a:pt x="71438" y="166688"/>
                </a:cubicBezTo>
              </a:path>
            </a:pathLst>
          </a:custGeom>
          <a:noFill/>
          <a:ln w="23812">
            <a:solidFill>
              <a:srgbClr val="13A89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305306" y="5461000"/>
            <a:ext cx="572859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2344D"/>
                </a:solidFill>
                <a:latin typeface="Arial"/>
                <a:ea typeface="Microsoft YaHei"/>
                <a:cs typeface="Arial"/>
              </a:rPr>
              <a:t>现场演示：AI深读 → 查看原文 → 保存待办 → 断网修改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142" y="6321425"/>
            <a:ext cx="276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知行 · 智能移动应用开发项目实践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hixing-defense-20261022">
  <a:themeElements>
    <a:clrScheme name="zhixing-defense-202610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hixing-defense-2026102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xing-defense-202610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zhixing-defense-20261022">
  <a:themeElements>
    <a:clrScheme name="zhixing-defense-202610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hixing-defense-2026102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xing-defense-202610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2026-10-22T07:07:48Z</dcterms:created>
  <dcterms:modified xsi:type="dcterms:W3CDTF">2026-10-22T07:07:48Z</dcterms:modified>
  <cp:category/>
  <cp:contentStatus/>
</cp:coreProperties>
</file>