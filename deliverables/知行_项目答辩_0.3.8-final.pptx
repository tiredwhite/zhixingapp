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135ec8e68e481e" /><Relationship Type="http://schemas.openxmlformats.org/officeDocument/2006/relationships/extended-properties" Target="/docProps/app.xml" Id="R4dbaec3d02984f5e" /><Relationship Type="http://schemas.openxmlformats.org/officeDocument/2006/relationships/officeDocument" Target="/ppt/presentation.xml" Id="R5bd7b40040dc4a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caed4f3c57465b"/>
  </p:sldMasterIdLst>
  <p:notesMasterIdLst>
    <p:notesMasterId xmlns:r="http://schemas.openxmlformats.org/officeDocument/2006/relationships" r:id="Rfa8598ffe89e4e7f"/>
  </p:notesMasterIdLst>
  <p:sldIdLst>
    <p:sldId xmlns:r="http://schemas.openxmlformats.org/officeDocument/2006/relationships" id="256" r:id="R2a26166b4e204ddf"/>
    <p:sldId xmlns:r="http://schemas.openxmlformats.org/officeDocument/2006/relationships" id="257" r:id="R9f2aa75e55dc43d4"/>
    <p:sldId xmlns:r="http://schemas.openxmlformats.org/officeDocument/2006/relationships" id="258" r:id="R2ecbd0fe742f465f"/>
    <p:sldId xmlns:r="http://schemas.openxmlformats.org/officeDocument/2006/relationships" id="259" r:id="R202077c89c89427e"/>
    <p:sldId xmlns:r="http://schemas.openxmlformats.org/officeDocument/2006/relationships" id="260" r:id="Rac4aec2b091e4caf"/>
    <p:sldId xmlns:r="http://schemas.openxmlformats.org/officeDocument/2006/relationships" id="261" r:id="R861374f25b3b4e36"/>
    <p:sldId xmlns:r="http://schemas.openxmlformats.org/officeDocument/2006/relationships" id="262" r:id="Rfdec20959a544208"/>
    <p:sldId xmlns:r="http://schemas.openxmlformats.org/officeDocument/2006/relationships" id="263" r:id="Ra3261616abe8472b"/>
    <p:sldId xmlns:r="http://schemas.openxmlformats.org/officeDocument/2006/relationships" id="264" r:id="Rfd7ea1e30be8431c"/>
    <p:sldId xmlns:r="http://schemas.openxmlformats.org/officeDocument/2006/relationships" id="265" r:id="R84b9a2b0807a4d0d"/>
    <p:sldId xmlns:r="http://schemas.openxmlformats.org/officeDocument/2006/relationships" id="266" r:id="Rcfc8374c09244e1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007b0e2bb49a5" /><Relationship Type="http://schemas.openxmlformats.org/officeDocument/2006/relationships/slideMaster" Target="/ppt/slideMasters/slideMaster1.xml" Id="R26caed4f3c57465b" /><Relationship Type="http://schemas.openxmlformats.org/officeDocument/2006/relationships/notesMaster" Target="/ppt/notesMasters/notesMaster1.xml" Id="Rfa8598ffe89e4e7f" /><Relationship Type="http://schemas.openxmlformats.org/officeDocument/2006/relationships/presProps" Target="/ppt/presProps.xml" Id="Rbd4cde4be14b4bfd" /><Relationship Type="http://schemas.openxmlformats.org/officeDocument/2006/relationships/viewProps" Target="/ppt/viewProps.xml" Id="R6e10f8d6e60a4f60" /><Relationship Type="http://schemas.openxmlformats.org/officeDocument/2006/relationships/tableStyles" Target="/ppt/tableStyles.xml" Id="R0b23506e2eb248e8" /><Relationship Type="http://schemas.openxmlformats.org/officeDocument/2006/relationships/slide" Target="/ppt/slides/slide1.xml" Id="R2a26166b4e204ddf" /><Relationship Type="http://schemas.openxmlformats.org/officeDocument/2006/relationships/slide" Target="/ppt/slides/slide2.xml" Id="R9f2aa75e55dc43d4" /><Relationship Type="http://schemas.openxmlformats.org/officeDocument/2006/relationships/slide" Target="/ppt/slides/slide3.xml" Id="R2ecbd0fe742f465f" /><Relationship Type="http://schemas.openxmlformats.org/officeDocument/2006/relationships/slide" Target="/ppt/slides/slide4.xml" Id="R202077c89c89427e" /><Relationship Type="http://schemas.openxmlformats.org/officeDocument/2006/relationships/slide" Target="/ppt/slides/slide5.xml" Id="Rac4aec2b091e4caf" /><Relationship Type="http://schemas.openxmlformats.org/officeDocument/2006/relationships/slide" Target="/ppt/slides/slide6.xml" Id="R861374f25b3b4e36" /><Relationship Type="http://schemas.openxmlformats.org/officeDocument/2006/relationships/slide" Target="/ppt/slides/slide7.xml" Id="Rfdec20959a544208" /><Relationship Type="http://schemas.openxmlformats.org/officeDocument/2006/relationships/slide" Target="/ppt/slides/slide8.xml" Id="Ra3261616abe8472b" /><Relationship Type="http://schemas.openxmlformats.org/officeDocument/2006/relationships/slide" Target="/ppt/slides/slide9.xml" Id="Rfd7ea1e30be8431c" /><Relationship Type="http://schemas.openxmlformats.org/officeDocument/2006/relationships/slide" Target="/ppt/slides/slide10.xml" Id="R84b9a2b0807a4d0d" /><Relationship Type="http://schemas.openxmlformats.org/officeDocument/2006/relationships/slide" Target="/ppt/slides/slide11.xml" Id="Rcfc8374c0924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9f92eff1e43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zhixing-defense-20261022">
  <a:themeElements>
    <a:clrScheme name="zhixing-defense-202610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xing-defense-2026102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xing-defense-202610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a14f127d7241d0" /><Relationship Type="http://schemas.openxmlformats.org/officeDocument/2006/relationships/notesMaster" Target="/ppt/notesMasters/notesMaster1.xml" Id="R24a5c3a43c6a43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1e3d24329494f" /><Relationship Type="http://schemas.openxmlformats.org/officeDocument/2006/relationships/notesMaster" Target="/ppt/notesMasters/notesMaster1.xml" Id="R18c9c255aae5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2793919c064f41" /><Relationship Type="http://schemas.openxmlformats.org/officeDocument/2006/relationships/notesMaster" Target="/ppt/notesMasters/notesMaster1.xml" Id="R420c971219844b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eaccdd72ad40ef" /><Relationship Type="http://schemas.openxmlformats.org/officeDocument/2006/relationships/notesMaster" Target="/ppt/notesMasters/notesMaster1.xml" Id="R6b98676cf2744d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141bc2a88c4d31" /><Relationship Type="http://schemas.openxmlformats.org/officeDocument/2006/relationships/notesMaster" Target="/ppt/notesMasters/notesMaster1.xml" Id="Rff138b5630f04a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8eac818d2145c7" /><Relationship Type="http://schemas.openxmlformats.org/officeDocument/2006/relationships/notesMaster" Target="/ppt/notesMasters/notesMaster1.xml" Id="Ra1da8c78bb0c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e12fc7b58a41d1" /><Relationship Type="http://schemas.openxmlformats.org/officeDocument/2006/relationships/notesMaster" Target="/ppt/notesMasters/notesMaster1.xml" Id="Rde968b19091e42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971fa03f484f70" /><Relationship Type="http://schemas.openxmlformats.org/officeDocument/2006/relationships/notesMaster" Target="/ppt/notesMasters/notesMaster1.xml" Id="Rce8b5980fb1c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8736a5ea284e13" /><Relationship Type="http://schemas.openxmlformats.org/officeDocument/2006/relationships/notesMaster" Target="/ppt/notesMasters/notesMaster1.xml" Id="R79b74396cda845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0b7bbf757c4a47" /><Relationship Type="http://schemas.openxmlformats.org/officeDocument/2006/relationships/notesMaster" Target="/ppt/notesMasters/notesMaster1.xml" Id="R433f2c55611448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d7f20c852d49dd" /><Relationship Type="http://schemas.openxmlformats.org/officeDocument/2006/relationships/notesMaster" Target="/ppt/notesMasters/notesMaster1.xml" Id="R1078c5080c3a47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各位老师好，我介绍的项目叫知行，是一款校园通知 AI 助手。它面向通知信息分散、行动要求不容易看清的问题，把通知整理成有原文依据的候选行动和办理建议。学生核对之后，才会把事项保存在手机。本次答辩展示的是 Android 0.3.8 版本，重点是实际产品、模型调用和已完成的验收。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先看一条课程演示用的合成通知：它要求在十月二十三日十八点前把项目书 PDF 提交到教学平台，同时提到还要参加项目答疑，但具体时间另行通知。用户需要分清要做什么、什么时候完成、交到哪里，以及哪些信息仍然缺失。知行首页提供粘贴和文档入口；图中的 H5 首页是网站界面，演示通知的内容仍需用户核对。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用户可以粘贴通知，也可以导入文档；服务端解析后，AI提出候选行动并生成深读建议。核对页会展示原文摘句，用户可以修改候选字段，再勾选确认。只有经过用户确认的事项才会进入本机待办；保存后可以离线查看和编辑，也可以带入系统日历。这条人工确认关口保留了学生对最终行动的决定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I深读把单纯的事项提取扩展为可审阅的办理建议。页面会先给一句话概括，再按先后关系提出一至五项步骤，并为每一步说明理由、附上通知中的连续原文摘句。它还会列出最多三个通知没有说明、但办理前值得追问的问题。步骤是模型建议，不是学校新增的正式要求；用户可以回到原通知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这里展示的是实时 AI 核对页，通知本身是专门编写的合成内容。结果识别出提交项目书 PDF 到教学平台，并给出二零二六年十月二十三日十八点的截止时间；另一项准备三分钟演示视频的行动也有原文依据。答辩时间没有在通知中明确，所以页面保留为待确认，而不是替用户补出一个时间。用户可以逐项查看依据，再决定是否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保存到手机之后，待办可以离线查看、编辑和标记完成。选择添加为日程时，知行会打开系统日历的预填编辑页：开始时间取通知截止时间，结束时间默认延后半小时；只有日期而没有具体时刻时，使用当地时间上午九点。学生仍需在系统日历中检查并保存。我们在 Android 15 的 iQOO 9 上核对过预填时间，但没有验证真实事件保存和提醒送达。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移动端使用 uni-app 和 Vue 3，账号会话及文档输入都由客户端处理；请求通过 HTTPS 到达 FastAPI 服务端。服务端执行鉴权、额度控制和文档提取，再调用 DeepSeek 的 deepseek-flash 模型，对返回的 JSON 结构和原文连续引用进行检查。模型密钥只留在服务端，校验通过的结果再交回用户核对。通知正文只会在用户主动解析、深读或对话时发送到服务端和模型。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输出需要通过结构和引用校验；深读结果不合格时最多自动重试两次，如果仍然失败，系统会明确提示，不会编造一份看似完整的答案。原文没有提供时间时，时间继续保持缺失，用户可以查看原文、手动修改后再决定是否保存。已经保存的任务留在本机，断网时仍可查看和编辑。文档单个文件不超过二十兆，PDF最多八十页，扫描件每次最多识别十页；识别效果还取决于页面清晰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目前记录的自动化测试共有八十二项：服务端 pytest 四十八项，移动端 Node 测试三十四项，H5 和 App 资源构建也已通过。Android 15 的 iQOO 9 上完成了覆盖升级，并确认原有本机数据保留。对同一条二千九百八十四字通知，修复后连续三次完成了线上 AI 深读，结果包含有效概括、步骤、待追问问题和可核对引用。这是单条样例的稳定性抽查，不能代表整体准确率。日历只核验了预填编辑页，没有保存测试事件。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知行网站已通过 HTTPS 发布到 tiredwhite.cn，Android 0.3.8 安装包也已公开下载。公网下载包与本机签名包的 SHA-256 一致。当前仍需继续验证系统日历事件真实保存和提醒送达，并用多种真实扫描件评估 OCR，再用冻结的通知样本集进行正式 AI 效果评估。本项目没有实现校园知识库、账号云同步或由 AI 自动提交事务；这些边界有助于准确说明当前交付范围。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知行让 AI 解释通知并提出有原文依据的行动建议，学生核对后再决定是否保存。答辩演示可以沿着一条清晰的路径展开：先看 AI 深读，再核对原文，保存待办，最后断网修改已保存事项。这个流程呈现了模型能力，也展示了出错时保留人工判断、缺失信息不擅自补全的设计原则。谢谢各位老师。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cdfffc6b14b29" /></Relationships>
</file>

<file path=ppt/slideLayouts/slideLayout1.xml><?xml version="1.0" encoding="utf-8"?>
<p:sldLayout xmlns:p="http://schemas.openxmlformats.org/presentationml/2006/main" type="blank" preserve="1">
  <p:cSld name="zhixing-defense-20261022 — 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5389893-9945-472C-8499-494A20CE3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7C2216D-E757-4795-B566-470BD85E01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73CCD8F-3973-4919-9690-2F0222D650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a034edf8804253" /><Relationship Type="http://schemas.openxmlformats.org/officeDocument/2006/relationships/slideLayout" Target="/ppt/slideLayouts/slideLayout1.xml" Id="R7b86ead1055f4fc4" /></Relationships>
</file>

<file path=ppt/slideMasters/slideMaster1.xml><?xml version="1.0" encoding="utf-8"?>
<p:sldMaster xmlns:p="http://schemas.openxmlformats.org/presentationml/2006/main">
  <p:cSld name="zhixing-defense-20261022 —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CD8020-D773-4395-B887-81879FB910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AB27F3-29BE-4FE9-8F94-6B097DCE4BA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BE5908-22F3-40CD-AAA6-EA4F01C36E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86ead1055f4fc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zhixing-defense-20261022">
  <a:themeElements>
    <a:clrScheme name="zhixing-defense-202610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xing-defense-2026102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xing-defense-202610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b174370a3409f" /><Relationship Type="http://schemas.openxmlformats.org/officeDocument/2006/relationships/notesSlide" Target="/ppt/notesSlides/notesSlide1.xml" Id="Rf0e15f3c2f3448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c4ceabe54f6e" /><Relationship Type="http://schemas.openxmlformats.org/officeDocument/2006/relationships/image" Target="/ppt/media/image.png" Id="Re4b2ce3d8c814be3" /><Relationship Type="http://schemas.openxmlformats.org/officeDocument/2006/relationships/notesSlide" Target="/ppt/notesSlides/notesSlide2.xml" Id="R545dbaf9b4ab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5662621634662" /><Relationship Type="http://schemas.openxmlformats.org/officeDocument/2006/relationships/notesSlide" Target="/ppt/notesSlides/notesSlide3.xml" Id="R3e2fbf529bf541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2e9e02b834af0" /><Relationship Type="http://schemas.openxmlformats.org/officeDocument/2006/relationships/image" Target="/ppt/media/image2.png" Id="Rc399507fec27442d" /><Relationship Type="http://schemas.openxmlformats.org/officeDocument/2006/relationships/notesSlide" Target="/ppt/notesSlides/notesSlide4.xml" Id="R737d395a93a645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8027d22c7451b" /><Relationship Type="http://schemas.openxmlformats.org/officeDocument/2006/relationships/image" Target="/ppt/media/image3.png" Id="R1c07389459ba46d2" /><Relationship Type="http://schemas.openxmlformats.org/officeDocument/2006/relationships/notesSlide" Target="/ppt/notesSlides/notesSlide5.xml" Id="R9d200f81072544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cfb2d84c04642" /><Relationship Type="http://schemas.openxmlformats.org/officeDocument/2006/relationships/image" Target="/ppt/media/image4.png" Id="R01241b7042e9414d" /><Relationship Type="http://schemas.openxmlformats.org/officeDocument/2006/relationships/notesSlide" Target="/ppt/notesSlides/notesSlide6.xml" Id="R166fbb86dc6140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41528a12a464d" /><Relationship Type="http://schemas.openxmlformats.org/officeDocument/2006/relationships/notesSlide" Target="/ppt/notesSlides/notesSlide7.xml" Id="Re4315f76dc8c49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9b80a4d5746b8" /><Relationship Type="http://schemas.openxmlformats.org/officeDocument/2006/relationships/notesSlide" Target="/ppt/notesSlides/notesSlide8.xml" Id="R34beb362ef2d46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6b5c3a22e4bc0" /><Relationship Type="http://schemas.openxmlformats.org/officeDocument/2006/relationships/notesSlide" Target="/ppt/notesSlides/notesSlide9.xml" Id="R2ba52708270844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172e8253d4e53" /><Relationship Type="http://schemas.openxmlformats.org/officeDocument/2006/relationships/notesSlide" Target="/ppt/notesSlides/notesSlide10.xml" Id="Rf438e61ba2174d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8100a404541b0" /><Relationship Type="http://schemas.openxmlformats.org/officeDocument/2006/relationships/notesSlide" Target="/ppt/notesSlides/notesSlide11.xml" Id="Raba1e27b99f640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853595B-3909-4D0F-9F03-B6B0CF6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" y="425450"/>
            <a:ext cx="314095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智能移动应用开发项目实践 · 课程答辩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7004258-6DC4-41DB-88D0-70497396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009" y="425450"/>
            <a:ext cx="13948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ANDROID 0.3.8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C654C2CA-9F26-4EE3-A003-D8CEB11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668000" cy="9525"/>
          </a:xfrm>
          <a:custGeom xmlns:a="http://schemas.openxmlformats.org/drawingml/2006/main"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F952EBA-D274-465B-95CC-9EEC1D08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0350"/>
            <a:ext cx="1411224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1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知行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CF8E010-490D-4FF0-9E30-5FF0E213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93950"/>
            <a:ext cx="2482657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校园通知 AI 助手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8B91EB8-6EC6-469C-89CC-DDE3282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" y="3327400"/>
            <a:ext cx="3694176" cy="1294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50"/>
              </a:lnSpc>
              <a:buNone/>
            </a:pPr>
            <a:r>
              <a:rPr sz="36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让通知里的下一步</a:t>
            </a:r>
            <a:br>
              <a:rPr sz="3600" b="1">
                <a:solidFill>
                  <a:srgbClr val="12344D"/>
                </a:solidFill>
                <a:latin typeface="Arial"/>
                <a:ea typeface="Arial"/>
                <a:cs typeface="Arial"/>
              </a:rPr>
            </a:br>
            <a:r>
              <a:rPr sz="36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有据可查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782FD49-4D6C-4E39-BACA-A143C581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" y="4775200"/>
            <a:ext cx="2955798" cy="694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AI提出候选行动与办理建议，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学生核对后再保存。</a:t>
            </a:r>
          </a:p>
        </p:txBody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CD4BE204-05E3-4D49-8BA7-CE391598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762500" cy="9525"/>
          </a:xfrm>
          <a:custGeom xmlns:a="http://schemas.openxmlformats.org/drawingml/2006/main"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F1FA251-BFF5-4DEA-BFC6-7C7434D3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" y="5902325"/>
            <a:ext cx="333950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真实界面 · 真实模型调用 · 明确验证边界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9E51E3F1-FE82-4117-B962-F712F7E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9525" cy="3067050"/>
          </a:xfrm>
          <a:custGeom xmlns:a="http://schemas.openxmlformats.org/drawingml/2006/main">
            <a:rect l="l" t="t" r="r" b="b"/>
            <a:pathLst>
              <a:path w="9525" h="3067050">
                <a:moveTo>
                  <a:pt x="0" y="0"/>
                </a:moveTo>
                <a:lnTo>
                  <a:pt x="0" y="3067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E1E8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51AC5797-D2EA-412B-9FB9-F10F7E6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6E2571-8877-46C6-AF02-18C1EE6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939" y="2216150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C4DBEB-0576-4FE9-971B-B791CA16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59800" y="2152650"/>
            <a:ext cx="63500" cy="63500"/>
          </a:xfrm>
          <a:custGeom xmlns:a="http://schemas.openxmlformats.org/drawingml/2006/main">
            <a:rect l="l" t="t" r="r" b="b"/>
            <a:pathLst>
              <a:path w="63500" h="63500">
                <a:moveTo>
                  <a:pt x="0" y="0"/>
                </a:moveTo>
                <a:lnTo>
                  <a:pt x="0" y="50800"/>
                </a:lnTo>
                <a:cubicBezTo>
                  <a:pt x="0" y="57814"/>
                  <a:pt x="5686" y="63500"/>
                  <a:pt x="12700" y="63500"/>
                </a:cubicBezTo>
                <a:lnTo>
                  <a:pt x="63500" y="6350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78685A0-2ECF-4380-91DF-DAE0541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5500" y="2152650"/>
            <a:ext cx="177800" cy="228599"/>
          </a:xfrm>
          <a:custGeom xmlns:a="http://schemas.openxmlformats.org/drawingml/2006/main">
            <a:rect l="l" t="t" r="r" b="b"/>
            <a:pathLst>
              <a:path w="177800" h="228599">
                <a:moveTo>
                  <a:pt x="152400" y="228599"/>
                </a:moveTo>
                <a:lnTo>
                  <a:pt x="25400" y="228599"/>
                </a:lnTo>
                <a:cubicBezTo>
                  <a:pt x="11372" y="228599"/>
                  <a:pt x="0" y="217227"/>
                  <a:pt x="0" y="203199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14300" y="0"/>
                </a:lnTo>
                <a:lnTo>
                  <a:pt x="177800" y="63500"/>
                </a:lnTo>
                <a:lnTo>
                  <a:pt x="177800" y="203199"/>
                </a:lnTo>
                <a:cubicBezTo>
                  <a:pt x="177800" y="217227"/>
                  <a:pt x="166428" y="228599"/>
                  <a:pt x="152400" y="2285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87F893E-5B0E-45CA-B33D-E46A5975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2228850"/>
            <a:ext cx="12700" cy="9525"/>
          </a:xfrm>
          <a:custGeom xmlns:a="http://schemas.openxmlformats.org/drawingml/2006/main">
            <a:rect l="l" t="t" r="r" b="b"/>
            <a:pathLst>
              <a:path w="12700" h="9525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9765107-9F40-4364-A064-A73E52B6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2279650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FD225B5-7CEC-421A-8089-584D6EFF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2330449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94B01B1-E72E-4F7E-BBC5-379FC0B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056" y="2079625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校园通知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D02476A-6C3C-4EE4-B1FB-E8B2409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342" y="2425700"/>
            <a:ext cx="92240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粘贴或导入</a:t>
            </a:r>
          </a:p>
        </p:txBody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A8427B5A-6E9A-4287-87DF-275B8683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6CF6E25-60A0-4B03-9389-21DCA21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939" y="3435350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A5A0D13-41A3-43B0-B0A5-BC331B7C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4550"/>
            <a:ext cx="215899" cy="203199"/>
          </a:xfrm>
          <a:custGeom xmlns:a="http://schemas.openxmlformats.org/drawingml/2006/main">
            <a:rect l="l" t="t" r="r" b="b"/>
            <a:pathLst>
              <a:path w="215899" h="203199">
                <a:moveTo>
                  <a:pt x="165100" y="177800"/>
                </a:moveTo>
                <a:cubicBezTo>
                  <a:pt x="179128" y="177800"/>
                  <a:pt x="190500" y="189171"/>
                  <a:pt x="190500" y="203199"/>
                </a:cubicBezTo>
                <a:cubicBezTo>
                  <a:pt x="190500" y="189171"/>
                  <a:pt x="201871" y="177800"/>
                  <a:pt x="215899" y="177800"/>
                </a:cubicBezTo>
                <a:cubicBezTo>
                  <a:pt x="201871" y="177800"/>
                  <a:pt x="190500" y="166428"/>
                  <a:pt x="190500" y="152400"/>
                </a:cubicBezTo>
                <a:cubicBezTo>
                  <a:pt x="190500" y="166428"/>
                  <a:pt x="179128" y="177800"/>
                  <a:pt x="165100" y="177800"/>
                </a:cubicBezTo>
                <a:moveTo>
                  <a:pt x="165100" y="25400"/>
                </a:moveTo>
                <a:cubicBezTo>
                  <a:pt x="179128" y="25400"/>
                  <a:pt x="190500" y="36772"/>
                  <a:pt x="190500" y="50800"/>
                </a:cubicBezTo>
                <a:cubicBezTo>
                  <a:pt x="190500" y="36772"/>
                  <a:pt x="201871" y="25400"/>
                  <a:pt x="215899" y="25400"/>
                </a:cubicBezTo>
                <a:cubicBezTo>
                  <a:pt x="201871" y="25400"/>
                  <a:pt x="190500" y="14028"/>
                  <a:pt x="190500" y="0"/>
                </a:cubicBezTo>
                <a:cubicBezTo>
                  <a:pt x="190500" y="14028"/>
                  <a:pt x="179128" y="25400"/>
                  <a:pt x="165100" y="25400"/>
                </a:cubicBezTo>
                <a:moveTo>
                  <a:pt x="76200" y="177800"/>
                </a:moveTo>
                <a:cubicBezTo>
                  <a:pt x="76200" y="135716"/>
                  <a:pt x="110316" y="101600"/>
                  <a:pt x="152400" y="101600"/>
                </a:cubicBezTo>
                <a:cubicBezTo>
                  <a:pt x="110316" y="101600"/>
                  <a:pt x="76200" y="67484"/>
                  <a:pt x="76200" y="25400"/>
                </a:cubicBezTo>
                <a:cubicBezTo>
                  <a:pt x="76200" y="67484"/>
                  <a:pt x="42084" y="101600"/>
                  <a:pt x="0" y="101600"/>
                </a:cubicBezTo>
                <a:cubicBezTo>
                  <a:pt x="42084" y="101600"/>
                  <a:pt x="76200" y="135716"/>
                  <a:pt x="76200" y="177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CBDD863-9986-4DC4-AE1A-A654B3FC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056" y="3298825"/>
            <a:ext cx="73142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AI建议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8351B7E-3C27-44D2-94DB-B53D6A1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342" y="3644900"/>
            <a:ext cx="128587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深读并给出出处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2AD69A01-E8C1-449C-B43D-0C49B0A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2682835-08A2-4B31-A0EE-3BDBBEA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939" y="4654550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78021DA-D098-464D-9CC5-B35B75B6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3600" y="4591050"/>
            <a:ext cx="101600" cy="101600"/>
          </a:xfrm>
          <a:custGeom xmlns:a="http://schemas.openxmlformats.org/drawingml/2006/main">
            <a:rect l="l" t="t" r="r" b="b"/>
            <a:pathLst>
              <a:path w="101600" h="101600">
                <a:moveTo>
                  <a:pt x="0" y="50800"/>
                </a:moveTo>
                <a:cubicBezTo>
                  <a:pt x="0" y="78856"/>
                  <a:pt x="22744" y="101600"/>
                  <a:pt x="50800" y="101600"/>
                </a:cubicBezTo>
                <a:cubicBezTo>
                  <a:pt x="78856" y="101600"/>
                  <a:pt x="101600" y="78856"/>
                  <a:pt x="101600" y="50800"/>
                </a:cubicBezTo>
                <a:cubicBezTo>
                  <a:pt x="101600" y="22744"/>
                  <a:pt x="78856" y="0"/>
                  <a:pt x="50800" y="0"/>
                </a:cubicBezTo>
                <a:cubicBezTo>
                  <a:pt x="22744" y="0"/>
                  <a:pt x="0" y="22744"/>
                  <a:pt x="0" y="50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45BA998-F716-44CD-A4B0-C9E8DDE4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58200" y="4743450"/>
            <a:ext cx="101600" cy="76200"/>
          </a:xfrm>
          <a:custGeom xmlns:a="http://schemas.openxmlformats.org/drawingml/2006/main">
            <a:rect l="l" t="t" r="r" b="b"/>
            <a:pathLst>
              <a:path w="101600" h="76200">
                <a:moveTo>
                  <a:pt x="0" y="76200"/>
                </a:move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3E85D16A-D2DF-4204-B42B-C93EE0D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0" y="4768849"/>
            <a:ext cx="76200" cy="50800"/>
          </a:xfrm>
          <a:custGeom xmlns:a="http://schemas.openxmlformats.org/drawingml/2006/main">
            <a:rect l="l" t="t" r="r" b="b"/>
            <a:pathLst>
              <a:path w="76200" h="50800">
                <a:moveTo>
                  <a:pt x="0" y="25400"/>
                </a:moveTo>
                <a:lnTo>
                  <a:pt x="25400" y="508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C78FB27-A17E-4C89-9446-D77FD283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056" y="4518025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学生确认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E5BFB7F-CB7D-44DE-822C-DFF8740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342" y="4864100"/>
            <a:ext cx="92240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核对后保存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1468445-2143-4C49-97C5-BE262A2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" y="6407150"/>
            <a:ext cx="154030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版本 0.3.8 · 2026</a:t>
            </a:r>
          </a:p>
        </p:txBody>
      </p:sp>
    </p:spTree>
    <p:extLst>
      <p:ext uri="{BB962C8B-B14F-4D97-AF65-F5344CB8AC3E}">
        <p14:creationId xmlns:p14="http://schemas.microsoft.com/office/powerpoint/2010/main" val="664714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7CA6FA8-2253-428E-8D61-7DAABD82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1700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01 / 问题定义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8D69F45-45F3-42BB-94FE-B8F8CAEE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D859597-1551-4CB2-BADE-3B6E028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5968746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一条通知里，行动信息常常分散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6AB19CB8-F6BB-45ED-8A27-D3EF03E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002CF5E-E9F5-43BC-9135-9F22B258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1644650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F2B451"/>
                </a:solidFill>
                <a:latin typeface="Arial"/>
                <a:ea typeface="Arial"/>
                <a:cs typeface="Arial"/>
              </a:rPr>
              <a:t>课程演示用合成通知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044ABB8-4173-4D60-9BEF-22F1F91A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51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C605B57-B5E4-4BB5-8729-A009C52A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D421981-19FB-4EF7-B4BE-7B4C59C8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193925"/>
            <a:ext cx="6373368" cy="694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请于2026年10月23日18:00前提交课程项目书PDF至教学平台。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另请参加项目答疑，具体时间另行通知。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59EC64A4-0EC9-4B10-AFA6-54CC92F5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0515600" cy="9525"/>
          </a:xfrm>
          <a:custGeom xmlns:a="http://schemas.openxmlformats.org/drawingml/2006/main"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C35585B-2F5C-4E77-89DE-D723767B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263" y="3802856"/>
            <a:ext cx="67469" cy="67469"/>
          </a:xfrm>
          <a:custGeom xmlns:a="http://schemas.openxmlformats.org/drawingml/2006/main">
            <a:rect l="l" t="t" r="r" b="b"/>
            <a:pathLst>
              <a:path w="67469" h="67469">
                <a:moveTo>
                  <a:pt x="0" y="0"/>
                </a:moveTo>
                <a:lnTo>
                  <a:pt x="0" y="53975"/>
                </a:lnTo>
                <a:cubicBezTo>
                  <a:pt x="0" y="61428"/>
                  <a:pt x="6041" y="67469"/>
                  <a:pt x="13494" y="67469"/>
                </a:cubicBezTo>
                <a:lnTo>
                  <a:pt x="67469" y="67469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A87599F-9646-41D0-9AF6-B0BF5487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819" y="3802856"/>
            <a:ext cx="188913" cy="242888"/>
          </a:xfrm>
          <a:custGeom xmlns:a="http://schemas.openxmlformats.org/drawingml/2006/main">
            <a:rect l="l" t="t" r="r" b="b"/>
            <a:pathLst>
              <a:path w="188913" h="242888">
                <a:moveTo>
                  <a:pt x="161925" y="242888"/>
                </a:moveTo>
                <a:lnTo>
                  <a:pt x="26988" y="242888"/>
                </a:lnTo>
                <a:cubicBezTo>
                  <a:pt x="12083" y="242888"/>
                  <a:pt x="0" y="230805"/>
                  <a:pt x="0" y="215901"/>
                </a:cubicBezTo>
                <a:lnTo>
                  <a:pt x="0" y="26988"/>
                </a:lnTo>
                <a:cubicBezTo>
                  <a:pt x="0" y="12083"/>
                  <a:pt x="12083" y="0"/>
                  <a:pt x="26988" y="0"/>
                </a:cubicBezTo>
                <a:lnTo>
                  <a:pt x="121444" y="0"/>
                </a:lnTo>
                <a:lnTo>
                  <a:pt x="188913" y="67469"/>
                </a:lnTo>
                <a:lnTo>
                  <a:pt x="188913" y="215901"/>
                </a:lnTo>
                <a:cubicBezTo>
                  <a:pt x="188913" y="230805"/>
                  <a:pt x="176830" y="242888"/>
                  <a:pt x="161925" y="2428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8270701-0D0F-4150-9EBE-A063425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794" y="3883819"/>
            <a:ext cx="13494" cy="9525"/>
          </a:xfrm>
          <a:custGeom xmlns:a="http://schemas.openxmlformats.org/drawingml/2006/main">
            <a:rect l="l" t="t" r="r" b="b"/>
            <a:pathLst>
              <a:path w="13494" h="9525">
                <a:moveTo>
                  <a:pt x="0" y="0"/>
                </a:moveTo>
                <a:lnTo>
                  <a:pt x="134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588639D-F59C-482A-86A6-05D6A4D8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794" y="3937794"/>
            <a:ext cx="80963" cy="9525"/>
          </a:xfrm>
          <a:custGeom xmlns:a="http://schemas.openxmlformats.org/drawingml/2006/main">
            <a:rect l="l" t="t" r="r" b="b"/>
            <a:pathLst>
              <a:path w="80963" h="9525">
                <a:moveTo>
                  <a:pt x="0" y="0"/>
                </a:move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07FD261-37A6-4FEE-9D6A-ABBBA83D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794" y="3991769"/>
            <a:ext cx="80963" cy="9525"/>
          </a:xfrm>
          <a:custGeom xmlns:a="http://schemas.openxmlformats.org/drawingml/2006/main">
            <a:rect l="l" t="t" r="r" b="b"/>
            <a:pathLst>
              <a:path w="80963" h="9525">
                <a:moveTo>
                  <a:pt x="0" y="0"/>
                </a:move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D41635D-61BF-4EC4-8C72-DC20D8DF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" y="3778250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要做什么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CD4D674-F6F4-4BFF-8537-BA6A2F3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56" y="4108450"/>
            <a:ext cx="175409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提交项目书 PDF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55C5745-E0CC-40A0-8EFC-3E93002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9525" y="3829844"/>
            <a:ext cx="215901" cy="215901"/>
          </a:xfrm>
          <a:custGeom xmlns:a="http://schemas.openxmlformats.org/drawingml/2006/main">
            <a:rect l="l" t="t" r="r" b="b"/>
            <a:pathLst>
              <a:path w="215901" h="215901">
                <a:moveTo>
                  <a:pt x="114697" y="215901"/>
                </a:moveTo>
                <a:lnTo>
                  <a:pt x="26988" y="215901"/>
                </a:lnTo>
                <a:cubicBezTo>
                  <a:pt x="12083" y="215901"/>
                  <a:pt x="0" y="203818"/>
                  <a:pt x="0" y="188913"/>
                </a:cubicBezTo>
                <a:lnTo>
                  <a:pt x="0" y="26988"/>
                </a:lnTo>
                <a:cubicBezTo>
                  <a:pt x="0" y="12083"/>
                  <a:pt x="12083" y="0"/>
                  <a:pt x="26988" y="0"/>
                </a:cubicBezTo>
                <a:lnTo>
                  <a:pt x="188913" y="0"/>
                </a:lnTo>
                <a:cubicBezTo>
                  <a:pt x="203818" y="0"/>
                  <a:pt x="215901" y="12083"/>
                  <a:pt x="215901" y="26988"/>
                </a:cubicBezTo>
                <a:lnTo>
                  <a:pt x="215901" y="94456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DC700E9-CCE0-498F-B7B6-EF36A699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1451" y="3802856"/>
            <a:ext cx="9525" cy="53975"/>
          </a:xfrm>
          <a:custGeom xmlns:a="http://schemas.openxmlformats.org/drawingml/2006/main">
            <a:rect l="l" t="t" r="r" b="b"/>
            <a:pathLst>
              <a:path w="9525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A6F72EF-6282-46F1-9F12-E142042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3500" y="3802856"/>
            <a:ext cx="9525" cy="53975"/>
          </a:xfrm>
          <a:custGeom xmlns:a="http://schemas.openxmlformats.org/drawingml/2006/main">
            <a:rect l="l" t="t" r="r" b="b"/>
            <a:pathLst>
              <a:path w="9525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E42F573-E6B8-4FAD-AA69-C33BFCC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9525" y="3910807"/>
            <a:ext cx="215901" cy="9525"/>
          </a:xfrm>
          <a:custGeom xmlns:a="http://schemas.openxmlformats.org/drawingml/2006/main">
            <a:rect l="l" t="t" r="r" b="b"/>
            <a:pathLst>
              <a:path w="215901" h="9525">
                <a:moveTo>
                  <a:pt x="0" y="0"/>
                </a:moveTo>
                <a:lnTo>
                  <a:pt x="2159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974B6EC-F432-4FD3-AC72-131FA450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1451" y="4018757"/>
            <a:ext cx="80963" cy="9525"/>
          </a:xfrm>
          <a:custGeom xmlns:a="http://schemas.openxmlformats.org/drawingml/2006/main">
            <a:rect l="l" t="t" r="r" b="b"/>
            <a:pathLst>
              <a:path w="80963" h="9525">
                <a:moveTo>
                  <a:pt x="0" y="0"/>
                </a:move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C2D05F0-C82D-436D-A9B9-4CCBFE7B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1932" y="3978276"/>
            <a:ext cx="9525" cy="80963"/>
          </a:xfrm>
          <a:custGeom xmlns:a="http://schemas.openxmlformats.org/drawingml/2006/main">
            <a:rect l="l" t="t" r="r" b="b"/>
            <a:pathLst>
              <a:path w="9525" h="80963">
                <a:moveTo>
                  <a:pt x="0" y="0"/>
                </a:moveTo>
                <a:lnTo>
                  <a:pt x="0" y="80963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7BC9227-330F-4BA7-A412-D4A438CC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778250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何时完成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C8F561-45F1-4886-855A-B166A085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706" y="4108450"/>
            <a:ext cx="183868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10月23日 18:00</a:t>
            </a:r>
          </a:p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85D35FFE-00CA-42A0-B9CF-B1F6E63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0515600" cy="9525"/>
          </a:xfrm>
          <a:custGeom xmlns:a="http://schemas.openxmlformats.org/drawingml/2006/main"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B9EC0EC-9CE1-4AFB-90A4-6430FBC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819" y="5026025"/>
            <a:ext cx="161925" cy="215901"/>
          </a:xfrm>
          <a:custGeom xmlns:a="http://schemas.openxmlformats.org/drawingml/2006/main">
            <a:rect l="l" t="t" r="r" b="b"/>
            <a:pathLst>
              <a:path w="161925" h="215901">
                <a:moveTo>
                  <a:pt x="62274" y="215901"/>
                </a:moveTo>
                <a:lnTo>
                  <a:pt x="26988" y="215901"/>
                </a:lnTo>
                <a:cubicBezTo>
                  <a:pt x="12083" y="215901"/>
                  <a:pt x="0" y="203818"/>
                  <a:pt x="0" y="188913"/>
                </a:cubicBezTo>
                <a:lnTo>
                  <a:pt x="0" y="26988"/>
                </a:lnTo>
                <a:cubicBezTo>
                  <a:pt x="0" y="12083"/>
                  <a:pt x="12083" y="0"/>
                  <a:pt x="26988" y="0"/>
                </a:cubicBezTo>
                <a:lnTo>
                  <a:pt x="134938" y="0"/>
                </a:lnTo>
                <a:cubicBezTo>
                  <a:pt x="149843" y="0"/>
                  <a:pt x="161925" y="12083"/>
                  <a:pt x="161925" y="26988"/>
                </a:cubicBezTo>
                <a:lnTo>
                  <a:pt x="161925" y="134938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14DB921-7067-47F3-8D55-38CF437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263" y="5201444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8604ADF-5382-4F25-AE0B-4871303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794" y="5080000"/>
            <a:ext cx="53975" cy="9525"/>
          </a:xfrm>
          <a:custGeom xmlns:a="http://schemas.openxmlformats.org/drawingml/2006/main">
            <a:rect l="l" t="t" r="r" b="b"/>
            <a:pathLst>
              <a:path w="53975" h="9525">
                <a:moveTo>
                  <a:pt x="0" y="0"/>
                </a:moveTo>
                <a:lnTo>
                  <a:pt x="5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41BDF24-CAC4-40DD-B05C-CB21564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794" y="5133975"/>
            <a:ext cx="26988" cy="9525"/>
          </a:xfrm>
          <a:custGeom xmlns:a="http://schemas.openxmlformats.org/drawingml/2006/main">
            <a:rect l="l" t="t" r="r" b="b"/>
            <a:pathLst>
              <a:path w="26988" h="9525">
                <a:moveTo>
                  <a:pt x="0" y="0"/>
                </a:moveTo>
                <a:lnTo>
                  <a:pt x="269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B3A68BE-6F3F-4FC9-AE24-B7E3CDF9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" y="4997450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交到哪里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F1E7120-4878-4DFA-B7C9-5654EC6D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56" y="5327650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教学平台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2F9066B-4309-4B72-93EF-CA507733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7475" y="5093494"/>
            <a:ext cx="9525" cy="53975"/>
          </a:xfrm>
          <a:custGeom xmlns:a="http://schemas.openxmlformats.org/drawingml/2006/main">
            <a:rect l="l" t="t" r="r" b="b"/>
            <a:pathLst>
              <a:path w="9525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F2B451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BE479560-07AD-4534-8C8D-60F93F17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1389" y="5008048"/>
            <a:ext cx="272162" cy="233823"/>
          </a:xfrm>
          <a:custGeom xmlns:a="http://schemas.openxmlformats.org/drawingml/2006/main">
            <a:rect l="l" t="t" r="r" b="b"/>
            <a:pathLst>
              <a:path w="272162" h="233823">
                <a:moveTo>
                  <a:pt x="113997" y="12458"/>
                </a:moveTo>
                <a:lnTo>
                  <a:pt x="4616" y="195083"/>
                </a:lnTo>
                <a:cubicBezTo>
                  <a:pt x="28" y="203029"/>
                  <a:pt x="0" y="212812"/>
                  <a:pt x="4543" y="220785"/>
                </a:cubicBezTo>
                <a:cubicBezTo>
                  <a:pt x="9086" y="228757"/>
                  <a:pt x="17517" y="233720"/>
                  <a:pt x="26692" y="233823"/>
                </a:cubicBezTo>
                <a:lnTo>
                  <a:pt x="245480" y="233823"/>
                </a:lnTo>
                <a:cubicBezTo>
                  <a:pt x="254651" y="233717"/>
                  <a:pt x="263078" y="228756"/>
                  <a:pt x="267620" y="220788"/>
                </a:cubicBezTo>
                <a:cubicBezTo>
                  <a:pt x="272162" y="212820"/>
                  <a:pt x="272138" y="203041"/>
                  <a:pt x="267556" y="195096"/>
                </a:cubicBezTo>
                <a:lnTo>
                  <a:pt x="158176" y="12444"/>
                </a:lnTo>
                <a:cubicBezTo>
                  <a:pt x="153495" y="4719"/>
                  <a:pt x="145119" y="0"/>
                  <a:pt x="136086" y="0"/>
                </a:cubicBezTo>
                <a:cubicBezTo>
                  <a:pt x="127054" y="0"/>
                  <a:pt x="118677" y="4719"/>
                  <a:pt x="113997" y="124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F2B451"/>
            </a:solidFill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C8B249B-6999-4C92-A12B-A41F9923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7475" y="5187951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F2B451"/>
            </a:solidFill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1BB690A6-BAB6-40B5-BE79-0E6DCB89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997450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尚未说明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DC42ECA-BFB8-4DFA-9533-8CCCEB4A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706" y="5327650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8232C"/>
                </a:solidFill>
                <a:latin typeface="Arial"/>
                <a:ea typeface="Arial"/>
                <a:cs typeface="Arial"/>
              </a:rPr>
              <a:t>答疑时间待确认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F422190-61C0-494D-BA83-BDF8870A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5845175"/>
            <a:ext cx="440489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H5首页展示粘贴和文档入口；示例内容仍由用户核对。</a:t>
            </a:r>
          </a:p>
        </p:txBody>
      </p:sp>
      <p:sp>
        <p:nvSpPr>
          <p:cNvPr id="43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175B20B7-77CA-48D5-8DFD-3FD9B12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04950"/>
            <a:ext cx="1181100" cy="47625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pic>
        <p:nvPicPr>
          <p:cNvPr id="44" name="Image 44">
            <a:extLst xmlns:a="http://schemas.openxmlformats.org/drawingml/2006/main">
              <a:ext uri="{FF2B5EF4-FFF2-40B4-BE49-F238E27FC236}">
                <a16:creationId xmlns:a16="http://schemas.microsoft.com/office/drawing/2014/main" id="{59CD23D3-AE34-46E8-B278-0BB810F85F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2ce3d8c814b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524000"/>
            <a:ext cx="1143000" cy="4724400"/>
          </a:xfrm>
          <a:prstGeom xmlns:a="http://schemas.openxmlformats.org/drawingml/2006/main" prst="rect">
            <a:avLst/>
          </a:prstGeom>
        </p:spPr>
      </p:pic>
      <p:sp>
        <p:nvSpPr>
          <p:cNvPr id="45" name="Line 45">
            <a:extLst xmlns:a="http://schemas.openxmlformats.org/drawingml/2006/main">
              <a:ext uri="{FF2B5EF4-FFF2-40B4-BE49-F238E27FC236}">
                <a16:creationId xmlns:a16="http://schemas.microsoft.com/office/drawing/2014/main" id="{1BF78E52-B45F-46D1-8A3C-0BB83D9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9A28D888-5360-45E3-AF83-035BB96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FBB4A4FB-89C0-4103-9E7E-37CF8113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526161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96EC53B-1FF1-4B2F-BD9F-6FC54737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1700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02 / 产品闭环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289A3B2-89DC-4973-98CD-3CECA4D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87B03C5-AA72-4A3F-AE65-6CF3AA71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5544693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知行把模型建议交给学生核验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5B2640EB-31CA-494A-B516-0B9AA43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1894285-B666-4977-996C-A094AAFC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" y="1651000"/>
            <a:ext cx="508223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AI提出候选行动；用户确认后才进入本机待办。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92AE8C0B-0524-4D3A-9DA5-8D28CCBB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8839200" cy="9525"/>
          </a:xfrm>
          <a:custGeom xmlns:a="http://schemas.openxmlformats.org/drawingml/2006/main"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5E1E8"/>
            </a:solidFill>
          </a:ln>
        </p:spPr>
      </p:sp>
      <p:sp>
        <p:nvSpPr>
          <p:cNvPr id="8" name="Ellipse 8">
            <a:extLst xmlns:a="http://schemas.openxmlformats.org/drawingml/2006/main">
              <a:ext uri="{FF2B5EF4-FFF2-40B4-BE49-F238E27FC236}">
                <a16:creationId xmlns:a16="http://schemas.microsoft.com/office/drawing/2014/main" id="{EA10C62E-DD85-48BB-B45B-003FACC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3F6BAA9-4743-4991-8247-73919964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689" y="2682875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7A28719-8367-4B8D-BF94-78118C9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6250" y="3390900"/>
            <a:ext cx="79375" cy="79375"/>
          </a:xfrm>
          <a:custGeom xmlns:a="http://schemas.openxmlformats.org/drawingml/2006/main">
            <a:rect l="l" t="t" r="r" b="b"/>
            <a:pathLst>
              <a:path w="79375" h="79375">
                <a:moveTo>
                  <a:pt x="0" y="0"/>
                </a:moveTo>
                <a:lnTo>
                  <a:pt x="0" y="63500"/>
                </a:lnTo>
                <a:cubicBezTo>
                  <a:pt x="0" y="72268"/>
                  <a:pt x="7107" y="79375"/>
                  <a:pt x="15875" y="79375"/>
                </a:cubicBezTo>
                <a:lnTo>
                  <a:pt x="79375" y="79375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62F140A-D701-4FE0-83E2-BFBC1EC0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3375" y="3390900"/>
            <a:ext cx="222250" cy="285751"/>
          </a:xfrm>
          <a:custGeom xmlns:a="http://schemas.openxmlformats.org/drawingml/2006/main">
            <a:rect l="l" t="t" r="r" b="b"/>
            <a:pathLst>
              <a:path w="222250" h="285751">
                <a:moveTo>
                  <a:pt x="190500" y="285751"/>
                </a:moveTo>
                <a:lnTo>
                  <a:pt x="31750" y="285751"/>
                </a:lnTo>
                <a:cubicBezTo>
                  <a:pt x="14215" y="285751"/>
                  <a:pt x="0" y="271536"/>
                  <a:pt x="0" y="254001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lnTo>
                  <a:pt x="142875" y="0"/>
                </a:lnTo>
                <a:lnTo>
                  <a:pt x="222250" y="79375"/>
                </a:lnTo>
                <a:lnTo>
                  <a:pt x="222250" y="254001"/>
                </a:lnTo>
                <a:cubicBezTo>
                  <a:pt x="222250" y="271536"/>
                  <a:pt x="208035" y="285751"/>
                  <a:pt x="190500" y="2857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99A1EF8-451A-497D-8A03-BDCE763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875" y="3486150"/>
            <a:ext cx="15875" cy="9525"/>
          </a:xfrm>
          <a:custGeom xmlns:a="http://schemas.openxmlformats.org/drawingml/2006/main">
            <a:rect l="l" t="t" r="r" b="b"/>
            <a:pathLst>
              <a:path w="15875" h="9525">
                <a:moveTo>
                  <a:pt x="0" y="0"/>
                </a:moveTo>
                <a:lnTo>
                  <a:pt x="15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AC6812D-0A90-4046-9DFE-C7D2A72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875" y="3549650"/>
            <a:ext cx="95250" cy="9525"/>
          </a:xfrm>
          <a:custGeom xmlns:a="http://schemas.openxmlformats.org/drawingml/2006/main"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EC53709-233E-47C2-AF40-1AC98464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875" y="3613151"/>
            <a:ext cx="95250" cy="9525"/>
          </a:xfrm>
          <a:custGeom xmlns:a="http://schemas.openxmlformats.org/drawingml/2006/main"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A94A2F-A3E6-4D33-858C-3AC000EA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3813175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输入通知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3003DA4-9574-426C-9D07-D6D37F7C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17" y="4235450"/>
            <a:ext cx="870966" cy="53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0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粘贴文本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或导入文档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885A370D-C801-4514-88F8-12C98C3B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6D032C-A92F-4D7E-840B-64CA2495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239" y="2682875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1BFAD00-B425-45BC-A269-EB5905FC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06775"/>
            <a:ext cx="269876" cy="254001"/>
          </a:xfrm>
          <a:custGeom xmlns:a="http://schemas.openxmlformats.org/drawingml/2006/main">
            <a:rect l="l" t="t" r="r" b="b"/>
            <a:pathLst>
              <a:path w="269876" h="254001">
                <a:moveTo>
                  <a:pt x="206375" y="222250"/>
                </a:moveTo>
                <a:cubicBezTo>
                  <a:pt x="223910" y="222250"/>
                  <a:pt x="238125" y="236465"/>
                  <a:pt x="238125" y="254001"/>
                </a:cubicBezTo>
                <a:cubicBezTo>
                  <a:pt x="238125" y="236465"/>
                  <a:pt x="252340" y="222250"/>
                  <a:pt x="269876" y="222250"/>
                </a:cubicBezTo>
                <a:cubicBezTo>
                  <a:pt x="252340" y="222250"/>
                  <a:pt x="238125" y="208035"/>
                  <a:pt x="238125" y="190500"/>
                </a:cubicBezTo>
                <a:cubicBezTo>
                  <a:pt x="238125" y="208035"/>
                  <a:pt x="223910" y="222250"/>
                  <a:pt x="206375" y="222250"/>
                </a:cubicBezTo>
                <a:moveTo>
                  <a:pt x="206375" y="31750"/>
                </a:moveTo>
                <a:cubicBezTo>
                  <a:pt x="223910" y="31750"/>
                  <a:pt x="238125" y="45965"/>
                  <a:pt x="238125" y="63500"/>
                </a:cubicBezTo>
                <a:cubicBezTo>
                  <a:pt x="238125" y="45965"/>
                  <a:pt x="252340" y="31750"/>
                  <a:pt x="269876" y="31750"/>
                </a:cubicBezTo>
                <a:cubicBezTo>
                  <a:pt x="252340" y="31750"/>
                  <a:pt x="238125" y="17535"/>
                  <a:pt x="238125" y="0"/>
                </a:cubicBezTo>
                <a:cubicBezTo>
                  <a:pt x="238125" y="17535"/>
                  <a:pt x="223910" y="31750"/>
                  <a:pt x="206375" y="31750"/>
                </a:cubicBezTo>
                <a:moveTo>
                  <a:pt x="95250" y="222250"/>
                </a:moveTo>
                <a:cubicBezTo>
                  <a:pt x="95250" y="169645"/>
                  <a:pt x="137895" y="127000"/>
                  <a:pt x="190500" y="127000"/>
                </a:cubicBezTo>
                <a:cubicBezTo>
                  <a:pt x="137895" y="127000"/>
                  <a:pt x="95250" y="84355"/>
                  <a:pt x="95250" y="31750"/>
                </a:cubicBezTo>
                <a:cubicBezTo>
                  <a:pt x="95250" y="84355"/>
                  <a:pt x="52605" y="127000"/>
                  <a:pt x="0" y="127000"/>
                </a:cubicBezTo>
                <a:cubicBezTo>
                  <a:pt x="52605" y="127000"/>
                  <a:pt x="95250" y="169645"/>
                  <a:pt x="95250" y="2222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222D0A-F4A2-43F1-A288-7ECF5BC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336" y="3813175"/>
            <a:ext cx="73142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AI解析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A53479C-5EC6-4A66-A0BC-D8049AA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842" y="4235450"/>
            <a:ext cx="1042416" cy="53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0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提取行动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生成深读建议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95B0C1A1-E1D4-45D7-B269-B3111A1C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14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3F06DF6-95A0-4404-893C-1AF926F6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789" y="2682875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ED54BC5-CB5E-4169-B26B-7E4CF55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2475" y="3438525"/>
            <a:ext cx="79375" cy="190500"/>
          </a:xfrm>
          <a:custGeom xmlns:a="http://schemas.openxmlformats.org/drawingml/2006/main">
            <a:rect l="l" t="t" r="r" b="b"/>
            <a:pathLst>
              <a:path w="79375" h="190500">
                <a:moveTo>
                  <a:pt x="79375" y="79375"/>
                </a:moveTo>
                <a:lnTo>
                  <a:pt x="15875" y="79375"/>
                </a:lnTo>
                <a:cubicBezTo>
                  <a:pt x="7107" y="79375"/>
                  <a:pt x="0" y="72268"/>
                  <a:pt x="0" y="63500"/>
                </a:cubicBezTo>
                <a:lnTo>
                  <a:pt x="0" y="15875"/>
                </a:lnTo>
                <a:cubicBezTo>
                  <a:pt x="0" y="7107"/>
                  <a:pt x="7107" y="0"/>
                  <a:pt x="15875" y="0"/>
                </a:cubicBezTo>
                <a:lnTo>
                  <a:pt x="63500" y="0"/>
                </a:lnTo>
                <a:cubicBezTo>
                  <a:pt x="72268" y="0"/>
                  <a:pt x="79375" y="7107"/>
                  <a:pt x="79375" y="15875"/>
                </a:cubicBezTo>
                <a:lnTo>
                  <a:pt x="79375" y="111125"/>
                </a:lnTo>
                <a:cubicBezTo>
                  <a:pt x="79375" y="153464"/>
                  <a:pt x="58214" y="179912"/>
                  <a:pt x="15875" y="190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E19DDFF-57EB-44EF-9291-5D43798B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5350" y="3438525"/>
            <a:ext cx="79375" cy="190500"/>
          </a:xfrm>
          <a:custGeom xmlns:a="http://schemas.openxmlformats.org/drawingml/2006/main">
            <a:rect l="l" t="t" r="r" b="b"/>
            <a:pathLst>
              <a:path w="79375" h="190500">
                <a:moveTo>
                  <a:pt x="79375" y="79375"/>
                </a:moveTo>
                <a:lnTo>
                  <a:pt x="15875" y="79375"/>
                </a:lnTo>
                <a:cubicBezTo>
                  <a:pt x="7107" y="79375"/>
                  <a:pt x="0" y="72268"/>
                  <a:pt x="0" y="63500"/>
                </a:cubicBezTo>
                <a:lnTo>
                  <a:pt x="0" y="15875"/>
                </a:lnTo>
                <a:cubicBezTo>
                  <a:pt x="0" y="7107"/>
                  <a:pt x="7107" y="0"/>
                  <a:pt x="15875" y="0"/>
                </a:cubicBezTo>
                <a:lnTo>
                  <a:pt x="63500" y="0"/>
                </a:lnTo>
                <a:cubicBezTo>
                  <a:pt x="72268" y="0"/>
                  <a:pt x="79375" y="7107"/>
                  <a:pt x="79375" y="15875"/>
                </a:cubicBezTo>
                <a:lnTo>
                  <a:pt x="79375" y="111125"/>
                </a:lnTo>
                <a:cubicBezTo>
                  <a:pt x="79375" y="153464"/>
                  <a:pt x="58214" y="179912"/>
                  <a:pt x="15875" y="190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4BC0EAA-A882-4A49-A06F-1E2AC05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3813175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原文核验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8D9873B-3122-43CF-9755-BF245CED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4235450"/>
            <a:ext cx="1042416" cy="53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0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查看摘句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修改候选字段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42DC4E11-1567-4828-A5CD-A2124EC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14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1366112-B132-49EF-ACBB-17E1B0B6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339" y="2682875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5E41CC1-7326-4C88-8919-08D2266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4650" y="3390900"/>
            <a:ext cx="127000" cy="127000"/>
          </a:xfrm>
          <a:custGeom xmlns:a="http://schemas.openxmlformats.org/drawingml/2006/main">
            <a:rect l="l" t="t" r="r" b="b"/>
            <a:pathLst>
              <a:path w="127000" h="127000">
                <a:moveTo>
                  <a:pt x="0" y="63500"/>
                </a:moveTo>
                <a:cubicBezTo>
                  <a:pt x="0" y="98570"/>
                  <a:pt x="28430" y="127000"/>
                  <a:pt x="63500" y="127000"/>
                </a:cubicBezTo>
                <a:cubicBezTo>
                  <a:pt x="98570" y="127000"/>
                  <a:pt x="127000" y="98570"/>
                  <a:pt x="127000" y="63500"/>
                </a:cubicBezTo>
                <a:cubicBezTo>
                  <a:pt x="127000" y="28430"/>
                  <a:pt x="98570" y="0"/>
                  <a:pt x="63500" y="0"/>
                </a:cubicBezTo>
                <a:cubicBezTo>
                  <a:pt x="28430" y="0"/>
                  <a:pt x="0" y="28430"/>
                  <a:pt x="0" y="63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3A89E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8242BF8-9F29-4B3F-B98B-77D4C2F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2900" y="3581400"/>
            <a:ext cx="127000" cy="95250"/>
          </a:xfrm>
          <a:custGeom xmlns:a="http://schemas.openxmlformats.org/drawingml/2006/main">
            <a:rect l="l" t="t" r="r" b="b"/>
            <a:pathLst>
              <a:path w="127000" h="95250">
                <a:moveTo>
                  <a:pt x="0" y="95250"/>
                </a:move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lnTo>
                  <a:pt x="12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3A89E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69BDC2C6-069C-4BD4-AE1E-1F9C497B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5775" y="3613151"/>
            <a:ext cx="95250" cy="63500"/>
          </a:xfrm>
          <a:custGeom xmlns:a="http://schemas.openxmlformats.org/drawingml/2006/main"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3A89E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391E8CC-3B3B-4E07-9FA6-5B133CBD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374" y="3813175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人工确认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36F540C-AFEE-43FE-AEA9-8488DBD2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217" y="4235450"/>
            <a:ext cx="1213866" cy="53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0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勾选并保存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用户作最终决定</a:t>
            </a:r>
          </a:p>
        </p:txBody>
      </p:sp>
      <p:sp>
        <p:nvSpPr>
          <p:cNvPr id="38" name="Ellipse 38">
            <a:extLst xmlns:a="http://schemas.openxmlformats.org/drawingml/2006/main">
              <a:ext uri="{FF2B5EF4-FFF2-40B4-BE49-F238E27FC236}">
                <a16:creationId xmlns:a16="http://schemas.microsoft.com/office/drawing/2014/main" id="{6EC3364C-1690-43A8-8CF2-85F6BB8D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4AD8759-4E3C-4AE2-8D22-EF757D7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889" y="2682875"/>
            <a:ext cx="22362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9227515-EBBA-492B-8486-2F87C1F3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61575" y="3406775"/>
            <a:ext cx="190500" cy="254001"/>
          </a:xfrm>
          <a:custGeom xmlns:a="http://schemas.openxmlformats.org/drawingml/2006/main">
            <a:rect l="l" t="t" r="r" b="b"/>
            <a:pathLst>
              <a:path w="190500" h="254001">
                <a:moveTo>
                  <a:pt x="73263" y="254001"/>
                </a:moveTo>
                <a:lnTo>
                  <a:pt x="31750" y="254001"/>
                </a:lnTo>
                <a:cubicBezTo>
                  <a:pt x="14215" y="254001"/>
                  <a:pt x="0" y="239786"/>
                  <a:pt x="0" y="22225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lnTo>
                  <a:pt x="158750" y="0"/>
                </a:lnTo>
                <a:cubicBezTo>
                  <a:pt x="176285" y="0"/>
                  <a:pt x="190500" y="14215"/>
                  <a:pt x="190500" y="31750"/>
                </a:cubicBezTo>
                <a:lnTo>
                  <a:pt x="190500" y="15875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B70385BE-F2C9-4885-8A35-43DC7D3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04450" y="3613151"/>
            <a:ext cx="95250" cy="63500"/>
          </a:xfrm>
          <a:custGeom xmlns:a="http://schemas.openxmlformats.org/drawingml/2006/main"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8461E51-2A26-4801-8130-18B8BFC7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075" y="3470275"/>
            <a:ext cx="63500" cy="9525"/>
          </a:xfrm>
          <a:custGeom xmlns:a="http://schemas.openxmlformats.org/drawingml/2006/main">
            <a:rect l="l" t="t" r="r" b="b"/>
            <a:pathLst>
              <a:path w="63500" h="9525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4971D25-F9CA-4983-9F92-DAA3BD5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5075" y="3533775"/>
            <a:ext cx="31750" cy="9525"/>
          </a:xfrm>
          <a:custGeom xmlns:a="http://schemas.openxmlformats.org/drawingml/2006/main">
            <a:rect l="l" t="t" r="r" b="b"/>
            <a:pathLst>
              <a:path w="31750" h="9525">
                <a:moveTo>
                  <a:pt x="0" y="0"/>
                </a:moveTo>
                <a:lnTo>
                  <a:pt x="3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12344D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57305058-FC44-4D08-B5F9-1C0DCA9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924" y="3813175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本机待办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1FC4275B-CD22-421C-AC5C-FB1EC47D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492" y="4235450"/>
            <a:ext cx="1042416" cy="53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0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离线查看编辑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可带入日历</a:t>
            </a:r>
          </a:p>
        </p:txBody>
      </p:sp>
      <p:sp>
        <p:nvSpPr>
          <p:cNvPr id="47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083A3586-C5C7-41BF-A6B4-943ACFE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33950"/>
            <a:ext cx="1562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>
            <a:noFill/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1E6A88A-55FF-4208-A2B8-49167C08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081" y="5092700"/>
            <a:ext cx="110413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人工确认关口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EC6FD2E-56D5-401A-854A-5DA8FDDD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5749925"/>
            <a:ext cx="473887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系统日历只接收预填信息，最终保存仍在手机日历中完成。</a:t>
            </a:r>
          </a:p>
        </p:txBody>
      </p:sp>
      <p:sp>
        <p:nvSpPr>
          <p:cNvPr id="50" name="Line 50">
            <a:extLst xmlns:a="http://schemas.openxmlformats.org/drawingml/2006/main">
              <a:ext uri="{FF2B5EF4-FFF2-40B4-BE49-F238E27FC236}">
                <a16:creationId xmlns:a16="http://schemas.microsoft.com/office/drawing/2014/main" id="{1FA6B96E-D78B-4127-91A3-61F65D3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18A24237-2DA6-4E46-A341-A0B24AB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9AE6662-294F-4F61-AC38-556A33FC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144292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3CAC5F9-F10D-4519-9784-AFECACF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00222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03 / AI能力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7E81731-B1A4-4AAE-8E2C-55C9504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64B25DD-E0E6-44C4-AC1C-81CD24C6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5096477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AI深读补足办理顺序与理由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7D0DB0FC-0875-43C3-A20B-1E5E094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5A1E9B0-BE85-4ED1-BEBB-B791C11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1663700"/>
            <a:ext cx="7406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可见输出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FD6AA96-8407-444C-AE5B-7AE508FA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6775"/>
            <a:ext cx="215899" cy="203199"/>
          </a:xfrm>
          <a:custGeom xmlns:a="http://schemas.openxmlformats.org/drawingml/2006/main">
            <a:rect l="l" t="t" r="r" b="b"/>
            <a:pathLst>
              <a:path w="215899" h="203199">
                <a:moveTo>
                  <a:pt x="165100" y="177800"/>
                </a:moveTo>
                <a:cubicBezTo>
                  <a:pt x="179128" y="177800"/>
                  <a:pt x="190500" y="189171"/>
                  <a:pt x="190500" y="203199"/>
                </a:cubicBezTo>
                <a:cubicBezTo>
                  <a:pt x="190500" y="189171"/>
                  <a:pt x="201871" y="177800"/>
                  <a:pt x="215899" y="177800"/>
                </a:cubicBezTo>
                <a:cubicBezTo>
                  <a:pt x="201871" y="177800"/>
                  <a:pt x="190500" y="166428"/>
                  <a:pt x="190500" y="152400"/>
                </a:cubicBezTo>
                <a:cubicBezTo>
                  <a:pt x="190500" y="166428"/>
                  <a:pt x="179128" y="177800"/>
                  <a:pt x="165100" y="177800"/>
                </a:cubicBezTo>
                <a:moveTo>
                  <a:pt x="165100" y="25400"/>
                </a:moveTo>
                <a:cubicBezTo>
                  <a:pt x="179128" y="25400"/>
                  <a:pt x="190500" y="36772"/>
                  <a:pt x="190500" y="50800"/>
                </a:cubicBezTo>
                <a:cubicBezTo>
                  <a:pt x="190500" y="36772"/>
                  <a:pt x="201871" y="25400"/>
                  <a:pt x="215899" y="25400"/>
                </a:cubicBezTo>
                <a:cubicBezTo>
                  <a:pt x="201871" y="25400"/>
                  <a:pt x="190500" y="14028"/>
                  <a:pt x="190500" y="0"/>
                </a:cubicBezTo>
                <a:cubicBezTo>
                  <a:pt x="190500" y="14028"/>
                  <a:pt x="179128" y="25400"/>
                  <a:pt x="165100" y="25400"/>
                </a:cubicBezTo>
                <a:moveTo>
                  <a:pt x="76200" y="177800"/>
                </a:moveTo>
                <a:cubicBezTo>
                  <a:pt x="76200" y="135716"/>
                  <a:pt x="110316" y="101600"/>
                  <a:pt x="152400" y="101600"/>
                </a:cubicBezTo>
                <a:cubicBezTo>
                  <a:pt x="110316" y="101600"/>
                  <a:pt x="76200" y="67484"/>
                  <a:pt x="76200" y="25400"/>
                </a:cubicBezTo>
                <a:cubicBezTo>
                  <a:pt x="76200" y="67484"/>
                  <a:pt x="42084" y="101600"/>
                  <a:pt x="0" y="101600"/>
                </a:cubicBezTo>
                <a:cubicBezTo>
                  <a:pt x="42084" y="101600"/>
                  <a:pt x="76200" y="135716"/>
                  <a:pt x="76200" y="177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195A27-EC5D-437D-8129-F351A92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6" y="2117725"/>
            <a:ext cx="122986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一句话概括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BDEAA69-0B5C-40A9-A435-5D33BA0D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92" y="2492375"/>
            <a:ext cx="237629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把通知主题压缩成可读结论。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4CA1A5B-534C-4433-988A-D5AB7C41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750" y="3013075"/>
            <a:ext cx="152400" cy="203199"/>
          </a:xfrm>
          <a:custGeom xmlns:a="http://schemas.openxmlformats.org/drawingml/2006/main">
            <a:rect l="l" t="t" r="r" b="b"/>
            <a:pathLst>
              <a:path w="152400" h="203199">
                <a:moveTo>
                  <a:pt x="58610" y="203199"/>
                </a:moveTo>
                <a:lnTo>
                  <a:pt x="25400" y="203199"/>
                </a:lnTo>
                <a:cubicBezTo>
                  <a:pt x="11372" y="203199"/>
                  <a:pt x="0" y="191828"/>
                  <a:pt x="0" y="177800"/>
                </a:cubicBezTo>
                <a:lnTo>
                  <a:pt x="0" y="25400"/>
                </a:lnTo>
                <a:cubicBezTo>
                  <a:pt x="0" y="11372"/>
                  <a:pt x="11372" y="0"/>
                  <a:pt x="25400" y="0"/>
                </a:cubicBezTo>
                <a:lnTo>
                  <a:pt x="127000" y="0"/>
                </a:lnTo>
                <a:cubicBezTo>
                  <a:pt x="141028" y="0"/>
                  <a:pt x="152400" y="11372"/>
                  <a:pt x="152400" y="25400"/>
                </a:cubicBezTo>
                <a:lnTo>
                  <a:pt x="152400" y="12700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EA32635-3115-4B38-A622-CAFF8855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050" y="3178174"/>
            <a:ext cx="76200" cy="50800"/>
          </a:xfrm>
          <a:custGeom xmlns:a="http://schemas.openxmlformats.org/drawingml/2006/main">
            <a:rect l="l" t="t" r="r" b="b"/>
            <a:pathLst>
              <a:path w="76200" h="50800">
                <a:moveTo>
                  <a:pt x="0" y="25400"/>
                </a:moveTo>
                <a:lnTo>
                  <a:pt x="25400" y="508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8BEA481-ED90-4AA6-8A48-0F68034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3063875"/>
            <a:ext cx="50800" cy="9525"/>
          </a:xfrm>
          <a:custGeom xmlns:a="http://schemas.openxmlformats.org/drawingml/2006/main">
            <a:rect l="l" t="t" r="r" b="b"/>
            <a:pathLst>
              <a:path w="50800" h="9525">
                <a:moveTo>
                  <a:pt x="0" y="0"/>
                </a:moveTo>
                <a:lnTo>
                  <a:pt x="50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F0866B6-A9D9-4018-92C5-B677935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3114675"/>
            <a:ext cx="25400" cy="9525"/>
          </a:xfrm>
          <a:custGeom xmlns:a="http://schemas.openxmlformats.org/drawingml/2006/main">
            <a:rect l="l" t="t" r="r" b="b"/>
            <a:pathLst>
              <a:path w="25400" h="9525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D8841A9-AE28-4BA5-9CE5-A040B6C1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6" y="2994025"/>
            <a:ext cx="1472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有序办理建议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52589A0-AF57-4202-9E5E-5AF3959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92" y="3368675"/>
            <a:ext cx="255803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把可执行步骤按先后关系排开。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99D309F-B144-44A0-9AE4-3393FFE5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0750" y="3914775"/>
            <a:ext cx="63500" cy="152400"/>
          </a:xfrm>
          <a:custGeom xmlns:a="http://schemas.openxmlformats.org/drawingml/2006/main">
            <a:rect l="l" t="t" r="r" b="b"/>
            <a:pathLst>
              <a:path w="63500" h="152400">
                <a:moveTo>
                  <a:pt x="63500" y="63500"/>
                </a:moveTo>
                <a:lnTo>
                  <a:pt x="12700" y="63500"/>
                </a:lnTo>
                <a:cubicBezTo>
                  <a:pt x="5686" y="63500"/>
                  <a:pt x="0" y="57814"/>
                  <a:pt x="0" y="50800"/>
                </a:cubicBezTo>
                <a:lnTo>
                  <a:pt x="0" y="12700"/>
                </a:lnTo>
                <a:cubicBezTo>
                  <a:pt x="0" y="5686"/>
                  <a:pt x="5686" y="0"/>
                  <a:pt x="12700" y="0"/>
                </a:cubicBezTo>
                <a:lnTo>
                  <a:pt x="50800" y="0"/>
                </a:lnTo>
                <a:cubicBezTo>
                  <a:pt x="57814" y="0"/>
                  <a:pt x="63500" y="5686"/>
                  <a:pt x="63500" y="12700"/>
                </a:cubicBezTo>
                <a:lnTo>
                  <a:pt x="63500" y="88900"/>
                </a:lnTo>
                <a:cubicBezTo>
                  <a:pt x="63500" y="122771"/>
                  <a:pt x="46571" y="143929"/>
                  <a:pt x="12700" y="1524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6169174-1C80-4507-9C96-B97621D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050" y="3914775"/>
            <a:ext cx="63500" cy="152400"/>
          </a:xfrm>
          <a:custGeom xmlns:a="http://schemas.openxmlformats.org/drawingml/2006/main">
            <a:rect l="l" t="t" r="r" b="b"/>
            <a:pathLst>
              <a:path w="63500" h="152400">
                <a:moveTo>
                  <a:pt x="63500" y="63500"/>
                </a:moveTo>
                <a:lnTo>
                  <a:pt x="12700" y="63500"/>
                </a:lnTo>
                <a:cubicBezTo>
                  <a:pt x="5686" y="63500"/>
                  <a:pt x="0" y="57814"/>
                  <a:pt x="0" y="50800"/>
                </a:cubicBezTo>
                <a:lnTo>
                  <a:pt x="0" y="12700"/>
                </a:lnTo>
                <a:cubicBezTo>
                  <a:pt x="0" y="5686"/>
                  <a:pt x="5686" y="0"/>
                  <a:pt x="12700" y="0"/>
                </a:cubicBezTo>
                <a:lnTo>
                  <a:pt x="50800" y="0"/>
                </a:lnTo>
                <a:cubicBezTo>
                  <a:pt x="57814" y="0"/>
                  <a:pt x="63500" y="5686"/>
                  <a:pt x="63500" y="12700"/>
                </a:cubicBezTo>
                <a:lnTo>
                  <a:pt x="63500" y="88900"/>
                </a:lnTo>
                <a:cubicBezTo>
                  <a:pt x="63500" y="122771"/>
                  <a:pt x="46571" y="143929"/>
                  <a:pt x="12700" y="1524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528E483-D5F7-4DCD-9A51-2135D2FF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6" y="3870325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理由与原文摘句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B5E916B-82A6-4494-8A2A-6CE05B7D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92" y="4244975"/>
            <a:ext cx="237629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每项建议都能回到通知核对。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A32B16F-D3BC-4399-A096-BD33B0D3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850" y="4829175"/>
            <a:ext cx="101600" cy="9525"/>
          </a:xfrm>
          <a:custGeom xmlns:a="http://schemas.openxmlformats.org/drawingml/2006/main">
            <a:rect l="l" t="t" r="r" b="b"/>
            <a:pathLst>
              <a:path w="101600" h="9525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345944-5EB6-4891-B213-3B511386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850" y="4879975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1E3626D-1D8C-4B5E-BEE4-B690480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" y="4765675"/>
            <a:ext cx="228599" cy="215899"/>
          </a:xfrm>
          <a:custGeom xmlns:a="http://schemas.openxmlformats.org/drawingml/2006/main">
            <a:rect l="l" t="t" r="r" b="b"/>
            <a:pathLst>
              <a:path w="228599" h="215899">
                <a:moveTo>
                  <a:pt x="139700" y="177800"/>
                </a:moveTo>
                <a:lnTo>
                  <a:pt x="127000" y="177800"/>
                </a:lnTo>
                <a:lnTo>
                  <a:pt x="63500" y="215899"/>
                </a:lnTo>
                <a:lnTo>
                  <a:pt x="63500" y="177800"/>
                </a:lnTo>
                <a:lnTo>
                  <a:pt x="38100" y="177800"/>
                </a:lnTo>
                <a:cubicBezTo>
                  <a:pt x="17058" y="177800"/>
                  <a:pt x="0" y="160742"/>
                  <a:pt x="0" y="139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lnTo>
                  <a:pt x="190500" y="0"/>
                </a:lnTo>
                <a:cubicBezTo>
                  <a:pt x="211542" y="0"/>
                  <a:pt x="228599" y="17058"/>
                  <a:pt x="228599" y="38100"/>
                </a:cubicBezTo>
                <a:lnTo>
                  <a:pt x="228599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D0E63CC-1B4F-405D-8FFC-2DDC2789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549" y="4994274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2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CD103E7-66C8-4FFD-9F08-8D4156E5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499" y="4902814"/>
            <a:ext cx="46447" cy="53360"/>
          </a:xfrm>
          <a:custGeom xmlns:a="http://schemas.openxmlformats.org/drawingml/2006/main">
            <a:rect l="l" t="t" r="r" b="b"/>
            <a:pathLst>
              <a:path w="46447" h="53360">
                <a:moveTo>
                  <a:pt x="19050" y="53360"/>
                </a:moveTo>
                <a:cubicBezTo>
                  <a:pt x="30767" y="53323"/>
                  <a:pt x="40943" y="45287"/>
                  <a:pt x="43695" y="33898"/>
                </a:cubicBezTo>
                <a:cubicBezTo>
                  <a:pt x="46447" y="22509"/>
                  <a:pt x="41064" y="10713"/>
                  <a:pt x="30658" y="5329"/>
                </a:cubicBezTo>
                <a:cubicBezTo>
                  <a:pt x="20255" y="0"/>
                  <a:pt x="7552" y="2542"/>
                  <a:pt x="0" y="114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13A89E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5DFF6AE-BD50-40F0-9D72-A20E7A5E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6" y="4746625"/>
            <a:ext cx="122986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待追问问题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93AA037-6524-4204-B623-9F2FD51F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92" y="5121275"/>
            <a:ext cx="255803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暴露原文没有说明的关键信息。</a:t>
            </a:r>
          </a:p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2C6ED215-DEBE-4842-B039-D6110FD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8020050" cy="9525"/>
          </a:xfrm>
          <a:custGeom xmlns:a="http://schemas.openxmlformats.org/drawingml/2006/main">
            <a:rect l="l" t="t" r="r" b="b"/>
            <a:pathLst>
              <a:path w="8020050" h="9525">
                <a:moveTo>
                  <a:pt x="0" y="0"/>
                </a:moveTo>
                <a:lnTo>
                  <a:pt x="802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113B2B8-66D3-44BE-BC73-B8EA52DF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5797550"/>
            <a:ext cx="346671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F2B451"/>
                </a:solidFill>
                <a:latin typeface="Arial"/>
                <a:ea typeface="Arial"/>
                <a:cs typeface="Arial"/>
              </a:rPr>
              <a:t>这是可审阅的建议，不是学校的正式解释。</a:t>
            </a:r>
          </a:p>
        </p:txBody>
      </p:sp>
      <p:sp>
        <p:nvSpPr>
          <p:cNvPr id="32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5CC37AF-5746-4146-A4BA-AA310D9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76375"/>
            <a:ext cx="1104900" cy="47244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pic>
        <p:nvPicPr>
          <p:cNvPr id="33" name="Image 33">
            <a:extLst xmlns:a="http://schemas.openxmlformats.org/drawingml/2006/main">
              <a:ext uri="{FF2B5EF4-FFF2-40B4-BE49-F238E27FC236}">
                <a16:creationId xmlns:a16="http://schemas.microsoft.com/office/drawing/2014/main" id="{3A7B1C64-C8E4-4CA7-90F9-F0016283D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9507fec2744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81274" y="1495425"/>
            <a:ext cx="935351" cy="4686300"/>
          </a:xfrm>
          <a:prstGeom xmlns:a="http://schemas.openxmlformats.org/drawingml/2006/main" prst="rect">
            <a:avLst/>
          </a:prstGeom>
        </p:spPr>
      </p:pic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3ED6EC58-0CDA-4E37-8B04-572A1AA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530DA829-E70D-42FB-9D65-89181583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78DC9DE-0705-4258-A48D-36D01487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1600744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B037636-330B-413D-9B2E-A94DD7E2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1700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04 / 原文依据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1D0A890-B295-4D44-ACEC-3B6E8D88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BCD88D3-A8AE-4B03-B693-D533054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4696587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原文依据让结果可以审阅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02B2A887-E8E8-4ED7-BF39-3C053248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0CB6E30-34B5-4240-B2CE-3F82010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5467350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pic>
        <p:nvPicPr>
          <p:cNvPr id="7" name="Image 7">
            <a:extLst xmlns:a="http://schemas.openxmlformats.org/drawingml/2006/main">
              <a:ext uri="{FF2B5EF4-FFF2-40B4-BE49-F238E27FC236}">
                <a16:creationId xmlns:a16="http://schemas.microsoft.com/office/drawing/2014/main" id="{C5F9BD57-FBD3-479D-9F42-8A77A61E7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7389459ba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7775" y="1666875"/>
            <a:ext cx="4457700" cy="440055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D267EAD-FC3B-4343-83C5-E662B560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308" y="1593850"/>
            <a:ext cx="1944502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实时AI核对页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35A871F-133A-400D-8DBA-69126539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642" y="2054225"/>
            <a:ext cx="164934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演示通知为合成内容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508C9C93-0E4A-4892-9AB2-7F6697CC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4686300" cy="9525"/>
          </a:xfrm>
          <a:custGeom xmlns:a="http://schemas.openxmlformats.org/drawingml/2006/main"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4C0B99-FB0A-4A00-9DFF-21A5D97C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642" y="2740025"/>
            <a:ext cx="64434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行动 01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CA3728E-E2BB-4A62-8F64-8425F7F4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356" y="3013075"/>
            <a:ext cx="304632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8232C"/>
                </a:solidFill>
                <a:latin typeface="Arial"/>
                <a:ea typeface="Arial"/>
                <a:cs typeface="Arial"/>
              </a:rPr>
              <a:t>提交项目书 PDF 至教学平台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7A1B41-5AE8-4602-99FE-D6FD66DA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642" y="3559175"/>
            <a:ext cx="3771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截止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40BAC36-66A1-4B2A-A532-C8E6041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356" y="3819525"/>
            <a:ext cx="24099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8232C"/>
                </a:solidFill>
                <a:latin typeface="Arial"/>
                <a:ea typeface="Arial"/>
                <a:cs typeface="Arial"/>
              </a:rPr>
              <a:t>2026-10-23 · 18:00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5E6CF17-2190-4E6A-B0EE-574CD815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642" y="4378325"/>
            <a:ext cx="64434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行动 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4A3C74-37C3-4E07-9E51-F4BDFAC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356" y="4651375"/>
            <a:ext cx="209675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8232C"/>
                </a:solidFill>
                <a:latin typeface="Arial"/>
                <a:ea typeface="Arial"/>
                <a:cs typeface="Arial"/>
              </a:rPr>
              <a:t>准备3分钟演示视频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83EBCAE-5470-488A-BBCE-28EB1BBC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642" y="5197475"/>
            <a:ext cx="5589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F2B451"/>
                </a:solidFill>
                <a:latin typeface="Arial"/>
                <a:ea typeface="Arial"/>
                <a:cs typeface="Arial"/>
              </a:rPr>
              <a:t>未明确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A510E2A-6E43-4169-8798-B1C2323B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356" y="5470525"/>
            <a:ext cx="219913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8232C"/>
                </a:solidFill>
                <a:latin typeface="Arial"/>
                <a:ea typeface="Arial"/>
                <a:cs typeface="Arial"/>
              </a:rPr>
              <a:t>答辩时间保留待确认</a:t>
            </a:r>
          </a:p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15C6F5D4-D488-47C0-A7C6-06D86883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172200"/>
            <a:ext cx="4686300" cy="9525"/>
          </a:xfrm>
          <a:custGeom xmlns:a="http://schemas.openxmlformats.org/drawingml/2006/main">
            <a:rect l="l" t="t" r="r" b="b"/>
            <a:pathLst>
              <a:path w="4686300" h="9525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D4411C96-2DB2-4D22-BA2E-04DD834A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87A4CF8-6A9B-4991-9B1D-B6A85D1A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1097ED0-37BC-44BD-BA00-2A842A6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2450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DB42053-4D64-4A3F-8807-FF404066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1700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05 / 执行入口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B21B072-339F-43EC-9899-FE2B1EEA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1594B87-6AD8-41D3-A19F-8DB758A2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5968746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待办离线可用，日历由用户保存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0526FF87-CFF4-4D55-925A-E994E4F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8203E3-E4C6-4663-AEC3-EAFF973A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2181225" cy="4686300"/>
          </a:xfrm>
          <a:prstGeom xmlns:a="http://schemas.openxmlformats.org/drawingml/2006/main" prst="roundRect">
            <a:avLst>
              <a:gd name="adj" fmla="val 3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pic>
        <p:nvPicPr>
          <p:cNvPr id="7" name="Image 7">
            <a:extLst xmlns:a="http://schemas.openxmlformats.org/drawingml/2006/main">
              <a:ext uri="{FF2B5EF4-FFF2-40B4-BE49-F238E27FC236}">
                <a16:creationId xmlns:a16="http://schemas.microsoft.com/office/drawing/2014/main" id="{45BDBA94-C98E-4F2E-8D3A-E5E4560CC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41b7042e941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694" y="1562100"/>
            <a:ext cx="1709738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D5A855F-E9FE-4C9F-80F2-A15301E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58" y="1593850"/>
            <a:ext cx="1639824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保存到本机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CFA7F61-0E50-452E-A466-10D84F3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106" y="2012950"/>
            <a:ext cx="2532888" cy="694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已保存任务可离线查看、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编辑和标记完成。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36C8A221-D3E4-4EE8-9768-BA9C3A15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7810500" cy="9525"/>
          </a:xfrm>
          <a:custGeom xmlns:a="http://schemas.openxmlformats.org/drawingml/2006/main"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EEAE5CB-D176-476C-9A67-D974F90A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3395662"/>
            <a:ext cx="228600" cy="228600"/>
          </a:xfrm>
          <a:custGeom xmlns:a="http://schemas.openxmlformats.org/drawingml/2006/main">
            <a:rect l="l" t="t" r="r" b="b"/>
            <a:pathLst>
              <a:path w="228600" h="228600">
                <a:moveTo>
                  <a:pt x="121444" y="228600"/>
                </a:moveTo>
                <a:lnTo>
                  <a:pt x="28575" y="228600"/>
                </a:lnTo>
                <a:cubicBezTo>
                  <a:pt x="12793" y="228600"/>
                  <a:pt x="0" y="215807"/>
                  <a:pt x="0" y="200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200025" y="0"/>
                </a:lnTo>
                <a:cubicBezTo>
                  <a:pt x="215807" y="0"/>
                  <a:pt x="228600" y="12793"/>
                  <a:pt x="228600" y="28575"/>
                </a:cubicBezTo>
                <a:lnTo>
                  <a:pt x="228600" y="10001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C398899-8EDE-4BE7-8FA3-DC31119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367088"/>
            <a:ext cx="9525" cy="57150"/>
          </a:xfrm>
          <a:custGeom xmlns:a="http://schemas.openxmlformats.org/drawingml/2006/main"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FADB208-D081-4E87-8308-5BCFDD2A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7600" y="3367088"/>
            <a:ext cx="9525" cy="57150"/>
          </a:xfrm>
          <a:custGeom xmlns:a="http://schemas.openxmlformats.org/drawingml/2006/main"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5A97951-7A51-462C-8F55-3860C52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3481388"/>
            <a:ext cx="228600" cy="9525"/>
          </a:xfrm>
          <a:custGeom xmlns:a="http://schemas.openxmlformats.org/drawingml/2006/main"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2D9CE15-9E31-4E25-B943-74753C7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595688"/>
            <a:ext cx="85725" cy="9525"/>
          </a:xfrm>
          <a:custGeom xmlns:a="http://schemas.openxmlformats.org/drawingml/2006/main">
            <a:rect l="l" t="t" r="r" b="b"/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3C2C212-6BDC-4FF5-A53F-F907D49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762" y="3552825"/>
            <a:ext cx="9525" cy="85725"/>
          </a:xfrm>
          <a:custGeom xmlns:a="http://schemas.openxmlformats.org/drawingml/2006/main">
            <a:rect l="l" t="t" r="r" b="b"/>
            <a:pathLst>
              <a:path w="952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3A89E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185FEA-A29C-4336-8525-2995CC3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606" y="3365500"/>
            <a:ext cx="1472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带入系统日历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E7ED95E-426D-472D-A1D2-C5A4E3BA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606" y="3708400"/>
            <a:ext cx="2784348" cy="694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开始时间取通知截止时间；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结束时间默认延后30分钟。</a:t>
            </a:r>
          </a:p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2B1C13D0-C826-4DBB-B7FE-3AC9524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7810500" cy="9525"/>
          </a:xfrm>
          <a:custGeom xmlns:a="http://schemas.openxmlformats.org/drawingml/2006/main"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19478B5-99E5-4C57-8465-FCFFA488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7600" y="5072062"/>
            <a:ext cx="114300" cy="114300"/>
          </a:xfrm>
          <a:custGeom xmlns:a="http://schemas.openxmlformats.org/drawingml/2006/main">
            <a:rect l="l" t="t" r="r" b="b"/>
            <a:pathLst>
              <a:path w="114300" h="114300">
                <a:moveTo>
                  <a:pt x="0" y="57150"/>
                </a:moveTo>
                <a:cubicBezTo>
                  <a:pt x="0" y="88713"/>
                  <a:pt x="25587" y="114300"/>
                  <a:pt x="57150" y="114300"/>
                </a:cubicBezTo>
                <a:cubicBezTo>
                  <a:pt x="88713" y="114300"/>
                  <a:pt x="114300" y="88713"/>
                  <a:pt x="114300" y="57150"/>
                </a:cubicBezTo>
                <a:cubicBezTo>
                  <a:pt x="114300" y="25587"/>
                  <a:pt x="88713" y="0"/>
                  <a:pt x="57150" y="0"/>
                </a:cubicBezTo>
                <a:cubicBezTo>
                  <a:pt x="25587" y="0"/>
                  <a:pt x="0" y="25587"/>
                  <a:pt x="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2B451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A1731FD-75D1-4E13-80DC-7E3A6971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9025" y="5243512"/>
            <a:ext cx="114300" cy="85725"/>
          </a:xfrm>
          <a:custGeom xmlns:a="http://schemas.openxmlformats.org/drawingml/2006/main">
            <a:rect l="l" t="t" r="r" b="b"/>
            <a:pathLst>
              <a:path w="114300" h="85725">
                <a:moveTo>
                  <a:pt x="0" y="85725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2B451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89F061-1DF9-4E25-B4C3-BEA86A27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7612" y="5272088"/>
            <a:ext cx="85725" cy="57150"/>
          </a:xfrm>
          <a:custGeom xmlns:a="http://schemas.openxmlformats.org/drawingml/2006/main">
            <a:rect l="l" t="t" r="r" b="b"/>
            <a:pathLst>
              <a:path w="85725" h="57150">
                <a:moveTo>
                  <a:pt x="0" y="28575"/>
                </a:moveTo>
                <a:lnTo>
                  <a:pt x="28575" y="5715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2B451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7568DDD-CA57-410D-BC49-E546E4B3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606" y="5070475"/>
            <a:ext cx="17145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打开预填编辑页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CE0D775-B012-4735-87CE-EF8317C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892" y="5445125"/>
            <a:ext cx="2756916" cy="53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学生检查后自行保存。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已验证预填时间，未验证提醒送达。</a:t>
            </a:r>
          </a:p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91D2D7A0-F416-4525-A4EE-86440F6A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2B79E9F-9E8E-4E21-97DC-70750EE0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E4814E5-852E-4607-882E-5573A157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1255168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4E8E770-DB21-4C0C-976D-3DE073B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1700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06 / 工程实现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200E517-A166-4178-8651-081F9766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26CF793-9E53-407B-8337-40C592B5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4248371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AI链路包含服务端校验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F3A62806-69B3-43FE-B184-665F3FD3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233197A-E0DA-4555-9165-F5A5671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" y="1593850"/>
            <a:ext cx="583387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客户端提交请求，服务端负责权限、调用和结果检查。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5DF3C82-C1B7-499A-9895-8CE847B9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77DC84E-77A0-468B-863A-0E9B53EC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FC276C1-69E3-4CC9-AA94-4A17C051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800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1D8CF18-2197-41F1-8AD5-DB391E04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5387" y="2636044"/>
            <a:ext cx="180975" cy="271462"/>
          </a:xfrm>
          <a:custGeom xmlns:a="http://schemas.openxmlformats.org/drawingml/2006/main">
            <a:rect l="l" t="t" r="r" b="b"/>
            <a:pathLst>
              <a:path w="180975" h="271462">
                <a:moveTo>
                  <a:pt x="0" y="30162"/>
                </a:moveTo>
                <a:cubicBezTo>
                  <a:pt x="0" y="13504"/>
                  <a:pt x="13504" y="0"/>
                  <a:pt x="30162" y="0"/>
                </a:cubicBezTo>
                <a:lnTo>
                  <a:pt x="150812" y="0"/>
                </a:lnTo>
                <a:cubicBezTo>
                  <a:pt x="167470" y="0"/>
                  <a:pt x="180975" y="13504"/>
                  <a:pt x="180975" y="30162"/>
                </a:cubicBezTo>
                <a:lnTo>
                  <a:pt x="180975" y="241299"/>
                </a:lnTo>
                <a:cubicBezTo>
                  <a:pt x="180975" y="257958"/>
                  <a:pt x="167470" y="271462"/>
                  <a:pt x="150812" y="271462"/>
                </a:cubicBezTo>
                <a:lnTo>
                  <a:pt x="30162" y="271462"/>
                </a:lnTo>
                <a:cubicBezTo>
                  <a:pt x="13504" y="271462"/>
                  <a:pt x="0" y="257958"/>
                  <a:pt x="0" y="241299"/>
                </a:cubicBezTo>
                <a:lnTo>
                  <a:pt x="0" y="30162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8AFF08E-A682-4850-B386-032A5352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0793" y="2651125"/>
            <a:ext cx="30162" cy="9525"/>
          </a:xfrm>
          <a:custGeom xmlns:a="http://schemas.openxmlformats.org/drawingml/2006/main">
            <a:rect l="l" t="t" r="r" b="b"/>
            <a:pathLst>
              <a:path w="30162" h="9525">
                <a:moveTo>
                  <a:pt x="0" y="0"/>
                </a:moveTo>
                <a:lnTo>
                  <a:pt x="301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5143623-2C12-4D3C-890B-47907C98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2847181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51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C2FB302-4957-41CE-AD9F-EEAE0B1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06" y="2641600"/>
            <a:ext cx="74523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移动端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6F7E9F-3691-4A1F-8C10-FEDE037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42" y="3127375"/>
            <a:ext cx="1556766" cy="911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uni-app / Vue 3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账号会话与文件输入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字段编辑和人工确认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AD58047-5188-4350-88F8-29D3D8E8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967" y="3216275"/>
            <a:ext cx="73956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HTTPS →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4F00268-B440-4561-9A1A-6A075C4A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9644" y="2651125"/>
            <a:ext cx="271462" cy="120650"/>
          </a:xfrm>
          <a:custGeom xmlns:a="http://schemas.openxmlformats.org/drawingml/2006/main">
            <a:rect l="l" t="t" r="r" b="b"/>
            <a:pathLst>
              <a:path w="271462" h="120650">
                <a:moveTo>
                  <a:pt x="0" y="45244"/>
                </a:moveTo>
                <a:cubicBezTo>
                  <a:pt x="0" y="20256"/>
                  <a:pt x="20256" y="0"/>
                  <a:pt x="45244" y="0"/>
                </a:cubicBezTo>
                <a:lnTo>
                  <a:pt x="226218" y="0"/>
                </a:lnTo>
                <a:cubicBezTo>
                  <a:pt x="251206" y="0"/>
                  <a:pt x="271462" y="20256"/>
                  <a:pt x="271462" y="45244"/>
                </a:cubicBezTo>
                <a:lnTo>
                  <a:pt x="271462" y="75406"/>
                </a:lnTo>
                <a:cubicBezTo>
                  <a:pt x="271462" y="100393"/>
                  <a:pt x="251206" y="120650"/>
                  <a:pt x="226218" y="120650"/>
                </a:cubicBezTo>
                <a:lnTo>
                  <a:pt x="45244" y="120650"/>
                </a:lnTo>
                <a:cubicBezTo>
                  <a:pt x="20256" y="120650"/>
                  <a:pt x="0" y="100393"/>
                  <a:pt x="0" y="75406"/>
                </a:cubicBezTo>
                <a:lnTo>
                  <a:pt x="0" y="45244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2DC222B-1199-4112-A88F-CEE8261E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9644" y="2771775"/>
            <a:ext cx="271462" cy="120650"/>
          </a:xfrm>
          <a:custGeom xmlns:a="http://schemas.openxmlformats.org/drawingml/2006/main">
            <a:rect l="l" t="t" r="r" b="b"/>
            <a:pathLst>
              <a:path w="271462" h="120650">
                <a:moveTo>
                  <a:pt x="0" y="45244"/>
                </a:moveTo>
                <a:cubicBezTo>
                  <a:pt x="0" y="20256"/>
                  <a:pt x="20256" y="0"/>
                  <a:pt x="45244" y="0"/>
                </a:cubicBezTo>
                <a:lnTo>
                  <a:pt x="226218" y="0"/>
                </a:lnTo>
                <a:cubicBezTo>
                  <a:pt x="251206" y="0"/>
                  <a:pt x="271462" y="20256"/>
                  <a:pt x="271462" y="45244"/>
                </a:cubicBezTo>
                <a:lnTo>
                  <a:pt x="271462" y="75406"/>
                </a:lnTo>
                <a:cubicBezTo>
                  <a:pt x="271462" y="100393"/>
                  <a:pt x="251206" y="120650"/>
                  <a:pt x="226218" y="120650"/>
                </a:cubicBezTo>
                <a:lnTo>
                  <a:pt x="45244" y="120650"/>
                </a:lnTo>
                <a:cubicBezTo>
                  <a:pt x="20256" y="120650"/>
                  <a:pt x="0" y="100393"/>
                  <a:pt x="0" y="75406"/>
                </a:cubicBezTo>
                <a:lnTo>
                  <a:pt x="0" y="45244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7BFD936-A242-4DD4-8C49-507BA4BE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9969" y="27114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51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296C8A2-6596-46CE-AB5D-E8E86D4F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9969" y="283209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51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752EF64-F57E-4B5E-A489-B353DF7D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706" y="2641600"/>
            <a:ext cx="176961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FastAPI 服务端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39E6D3E-F48B-4C59-A6EE-36A2704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542" y="3127375"/>
            <a:ext cx="1968246" cy="911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鉴权、配额与文档提取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调用模型并校验JSON结构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核对原文连续引用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D50B45-54A8-4762-9E8A-6A553FC4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380" y="3216275"/>
            <a:ext cx="53939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模型 →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574267E-1850-40D9-BFB1-9FC8538B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344" y="2651125"/>
            <a:ext cx="256381" cy="241299"/>
          </a:xfrm>
          <a:custGeom xmlns:a="http://schemas.openxmlformats.org/drawingml/2006/main">
            <a:rect l="l" t="t" r="r" b="b"/>
            <a:pathLst>
              <a:path w="256381" h="241299">
                <a:moveTo>
                  <a:pt x="196056" y="211137"/>
                </a:moveTo>
                <a:cubicBezTo>
                  <a:pt x="212714" y="211137"/>
                  <a:pt x="226218" y="224641"/>
                  <a:pt x="226218" y="241299"/>
                </a:cubicBezTo>
                <a:cubicBezTo>
                  <a:pt x="226218" y="224641"/>
                  <a:pt x="239722" y="211137"/>
                  <a:pt x="256381" y="211137"/>
                </a:cubicBezTo>
                <a:cubicBezTo>
                  <a:pt x="239722" y="211137"/>
                  <a:pt x="226218" y="197633"/>
                  <a:pt x="226218" y="180975"/>
                </a:cubicBezTo>
                <a:cubicBezTo>
                  <a:pt x="226218" y="197633"/>
                  <a:pt x="212714" y="211137"/>
                  <a:pt x="196056" y="211137"/>
                </a:cubicBezTo>
                <a:moveTo>
                  <a:pt x="196056" y="30162"/>
                </a:moveTo>
                <a:cubicBezTo>
                  <a:pt x="212714" y="30162"/>
                  <a:pt x="226218" y="43667"/>
                  <a:pt x="226218" y="60325"/>
                </a:cubicBezTo>
                <a:cubicBezTo>
                  <a:pt x="226218" y="43667"/>
                  <a:pt x="239722" y="30162"/>
                  <a:pt x="256381" y="30162"/>
                </a:cubicBezTo>
                <a:cubicBezTo>
                  <a:pt x="239722" y="30162"/>
                  <a:pt x="226218" y="16658"/>
                  <a:pt x="226218" y="0"/>
                </a:cubicBezTo>
                <a:cubicBezTo>
                  <a:pt x="226218" y="16658"/>
                  <a:pt x="212714" y="30162"/>
                  <a:pt x="196056" y="30162"/>
                </a:cubicBezTo>
                <a:moveTo>
                  <a:pt x="90487" y="211137"/>
                </a:moveTo>
                <a:cubicBezTo>
                  <a:pt x="90487" y="161162"/>
                  <a:pt x="131000" y="120650"/>
                  <a:pt x="180975" y="120650"/>
                </a:cubicBezTo>
                <a:cubicBezTo>
                  <a:pt x="131000" y="120650"/>
                  <a:pt x="90487" y="80137"/>
                  <a:pt x="90487" y="30162"/>
                </a:cubicBezTo>
                <a:cubicBezTo>
                  <a:pt x="90487" y="80137"/>
                  <a:pt x="49975" y="120650"/>
                  <a:pt x="0" y="120650"/>
                </a:cubicBezTo>
                <a:cubicBezTo>
                  <a:pt x="49975" y="120650"/>
                  <a:pt x="90487" y="161162"/>
                  <a:pt x="90487" y="2111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3A89E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4840C6D-5A96-4F33-A8BC-9184C79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406" y="2628900"/>
            <a:ext cx="115363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DeepSeek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BB24E08-4F97-487A-A0FD-D4B2DBF3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242" y="3127375"/>
            <a:ext cx="1899666" cy="587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deepseek-flash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生成候选行动与深读建议</a:t>
            </a:r>
          </a:p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A6DC5565-2DBE-4792-A6E8-E0A40C8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0515600" cy="9525"/>
          </a:xfrm>
          <a:custGeom xmlns:a="http://schemas.openxmlformats.org/drawingml/2006/main"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5FF8866-E122-42AD-9C97-2C12186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001" y="5417344"/>
            <a:ext cx="232508" cy="212479"/>
          </a:xfrm>
          <a:custGeom xmlns:a="http://schemas.openxmlformats.org/drawingml/2006/main"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6A58D4-3482-4880-B4FC-BC7D59A4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3944" y="5584031"/>
            <a:ext cx="71438" cy="47625"/>
          </a:xfrm>
          <a:custGeom xmlns:a="http://schemas.openxmlformats.org/drawingml/2006/main"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E0D4477-1D1E-4CAE-93BD-5F8803B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06" y="5384800"/>
            <a:ext cx="656082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模型密钥保存在服务端；校验通过后才把结果交回用户核对。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6F7F13D-6602-4168-A0C2-8EFFB0B7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692" y="5788025"/>
            <a:ext cx="492061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通知只在用户发起解析、深读或对话时发送到服务端与模型。</a:t>
            </a:r>
          </a:p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DE2D4374-14BB-4A82-A0AE-D3406AE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1B14544A-1C91-43A5-BB5D-F6FF6851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FC9EE10-58A5-4A3C-9B17-989FCC67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</p:spTree>
    <p:extLst>
      <p:ext uri="{BB962C8B-B14F-4D97-AF65-F5344CB8AC3E}">
        <p14:creationId xmlns:p14="http://schemas.microsoft.com/office/powerpoint/2010/main" val="1008953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3CD3B175-5225-4115-8C08-C4167D9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170018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07 / 容错设计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31AB066-B902-4E9F-B96B-B8970AF9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1F420D1-A4E9-4299-A90B-2662EC6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5120640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失败时保留人工与本机路径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2A55AD82-3E57-4477-A236-9D264191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134E909F-9207-4255-A218-CFDBECF5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471" y="1955006"/>
            <a:ext cx="263510" cy="240810"/>
          </a:xfrm>
          <a:custGeom xmlns:a="http://schemas.openxmlformats.org/drawingml/2006/main">
            <a:rect l="l" t="t" r="r" b="b"/>
            <a:pathLst>
              <a:path w="263510" h="240810">
                <a:moveTo>
                  <a:pt x="132368" y="240810"/>
                </a:moveTo>
                <a:cubicBezTo>
                  <a:pt x="47836" y="214607"/>
                  <a:pt x="0" y="125390"/>
                  <a:pt x="24957" y="40481"/>
                </a:cubicBezTo>
                <a:cubicBezTo>
                  <a:pt x="66998" y="42405"/>
                  <a:pt x="108135" y="27886"/>
                  <a:pt x="139655" y="0"/>
                </a:cubicBezTo>
                <a:cubicBezTo>
                  <a:pt x="171174" y="27886"/>
                  <a:pt x="212311" y="42405"/>
                  <a:pt x="254352" y="40481"/>
                </a:cubicBezTo>
                <a:cubicBezTo>
                  <a:pt x="263510" y="71640"/>
                  <a:pt x="263086" y="104832"/>
                  <a:pt x="253137" y="1357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79EB01B-D5E0-486C-B00C-F6E32AC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607" y="2143919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A8E1C2E-4470-4486-9AC2-EAACB8DC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56" y="1955800"/>
            <a:ext cx="1472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模型输出校验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617442-A67A-431F-A01A-FDCE0287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42" y="2393950"/>
            <a:ext cx="2071116" cy="83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结构与原文引用逐项检查。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深读不合格最多重试两次，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仍失败就明确报错。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5668653D-9E7C-4E2C-9538-19A384E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762500" cy="9525"/>
          </a:xfrm>
          <a:custGeom xmlns:a="http://schemas.openxmlformats.org/drawingml/2006/main"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68B3B4C-B077-4246-B6E8-816CEE98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5575" y="2035969"/>
            <a:ext cx="9525" cy="53975"/>
          </a:xfrm>
          <a:custGeom xmlns:a="http://schemas.openxmlformats.org/drawingml/2006/main">
            <a:rect l="l" t="t" r="r" b="b"/>
            <a:pathLst>
              <a:path w="9525" h="53975">
                <a:moveTo>
                  <a:pt x="0" y="0"/>
                </a:moveTo>
                <a:lnTo>
                  <a:pt x="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F2B451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DD54103-3732-449D-91E6-73E86B39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9489" y="1950523"/>
            <a:ext cx="272162" cy="233823"/>
          </a:xfrm>
          <a:custGeom xmlns:a="http://schemas.openxmlformats.org/drawingml/2006/main">
            <a:rect l="l" t="t" r="r" b="b"/>
            <a:pathLst>
              <a:path w="272162" h="233823">
                <a:moveTo>
                  <a:pt x="113997" y="12458"/>
                </a:moveTo>
                <a:lnTo>
                  <a:pt x="4616" y="195083"/>
                </a:lnTo>
                <a:cubicBezTo>
                  <a:pt x="28" y="203029"/>
                  <a:pt x="0" y="212812"/>
                  <a:pt x="4543" y="220785"/>
                </a:cubicBezTo>
                <a:cubicBezTo>
                  <a:pt x="9086" y="228757"/>
                  <a:pt x="17517" y="233720"/>
                  <a:pt x="26692" y="233823"/>
                </a:cubicBezTo>
                <a:lnTo>
                  <a:pt x="245480" y="233823"/>
                </a:lnTo>
                <a:cubicBezTo>
                  <a:pt x="254651" y="233717"/>
                  <a:pt x="263078" y="228756"/>
                  <a:pt x="267620" y="220788"/>
                </a:cubicBezTo>
                <a:cubicBezTo>
                  <a:pt x="272162" y="212820"/>
                  <a:pt x="272138" y="203041"/>
                  <a:pt x="267556" y="195096"/>
                </a:cubicBezTo>
                <a:lnTo>
                  <a:pt x="158176" y="12444"/>
                </a:lnTo>
                <a:cubicBezTo>
                  <a:pt x="153495" y="4719"/>
                  <a:pt x="145119" y="0"/>
                  <a:pt x="136086" y="0"/>
                </a:cubicBezTo>
                <a:cubicBezTo>
                  <a:pt x="127054" y="0"/>
                  <a:pt x="118677" y="4719"/>
                  <a:pt x="113997" y="124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F2B451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F8A6FEB-6D59-45FC-A74A-18277413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5575" y="2130426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1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F2B451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BB518B6-7E1C-42B0-B9C4-697BD9A8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6" y="1955800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信息缺失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2627244-9A6E-436E-AA81-860EAE52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92" y="2393950"/>
            <a:ext cx="2242566" cy="83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原文没有时间就保留空缺。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用户可查看原文、手动修改，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再决定是否保存。</a:t>
            </a:r>
          </a:p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9D9FB59B-DF4A-4CB0-BCC4-F6D9B5B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4762500" cy="9525"/>
          </a:xfrm>
          <a:custGeom xmlns:a="http://schemas.openxmlformats.org/drawingml/2006/main"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A0AAC42-7780-4990-A850-6FE9C16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669" y="3987800"/>
            <a:ext cx="161925" cy="215901"/>
          </a:xfrm>
          <a:custGeom xmlns:a="http://schemas.openxmlformats.org/drawingml/2006/main">
            <a:rect l="l" t="t" r="r" b="b"/>
            <a:pathLst>
              <a:path w="161925" h="215901">
                <a:moveTo>
                  <a:pt x="62274" y="215901"/>
                </a:moveTo>
                <a:lnTo>
                  <a:pt x="26988" y="215901"/>
                </a:lnTo>
                <a:cubicBezTo>
                  <a:pt x="12083" y="215901"/>
                  <a:pt x="0" y="203818"/>
                  <a:pt x="0" y="188913"/>
                </a:cubicBezTo>
                <a:lnTo>
                  <a:pt x="0" y="26988"/>
                </a:lnTo>
                <a:cubicBezTo>
                  <a:pt x="0" y="12083"/>
                  <a:pt x="12083" y="0"/>
                  <a:pt x="26988" y="0"/>
                </a:cubicBezTo>
                <a:lnTo>
                  <a:pt x="134938" y="0"/>
                </a:lnTo>
                <a:cubicBezTo>
                  <a:pt x="149843" y="0"/>
                  <a:pt x="161925" y="12083"/>
                  <a:pt x="161925" y="26988"/>
                </a:cubicBezTo>
                <a:lnTo>
                  <a:pt x="161925" y="134938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8836D2F-DCE8-4154-850E-825683F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113" y="4163219"/>
            <a:ext cx="80963" cy="53975"/>
          </a:xfrm>
          <a:custGeom xmlns:a="http://schemas.openxmlformats.org/drawingml/2006/main">
            <a:rect l="l" t="t" r="r" b="b"/>
            <a:pathLst>
              <a:path w="80963" h="53975">
                <a:moveTo>
                  <a:pt x="0" y="26988"/>
                </a:moveTo>
                <a:lnTo>
                  <a:pt x="26988" y="53975"/>
                </a:ln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445B2E0-195A-41F6-9148-B8FE7676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644" y="4041775"/>
            <a:ext cx="53975" cy="9525"/>
          </a:xfrm>
          <a:custGeom xmlns:a="http://schemas.openxmlformats.org/drawingml/2006/main">
            <a:rect l="l" t="t" r="r" b="b"/>
            <a:pathLst>
              <a:path w="53975" h="9525">
                <a:moveTo>
                  <a:pt x="0" y="0"/>
                </a:moveTo>
                <a:lnTo>
                  <a:pt x="5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C96AD61-83A5-40A1-87C5-8777B4B6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644" y="4095750"/>
            <a:ext cx="26988" cy="9525"/>
          </a:xfrm>
          <a:custGeom xmlns:a="http://schemas.openxmlformats.org/drawingml/2006/main">
            <a:rect l="l" t="t" r="r" b="b"/>
            <a:pathLst>
              <a:path w="26988" h="9525">
                <a:moveTo>
                  <a:pt x="0" y="0"/>
                </a:moveTo>
                <a:lnTo>
                  <a:pt x="269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3EF23AA-0ED0-46B5-9589-8D75717F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56" y="3975100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离线任务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BACE3FA-20F4-46F5-9176-3E3E001C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42" y="4413250"/>
            <a:ext cx="2071116" cy="83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已保存任务留在本机。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无网络时仍可查看和编辑，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AI服务不可用会单独提示。</a:t>
            </a:r>
          </a:p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2B8B3E50-5878-40BF-B389-D6729E1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4762500" cy="9525"/>
          </a:xfrm>
          <a:custGeom xmlns:a="http://schemas.openxmlformats.org/drawingml/2006/main"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B2AFFB0-A6A2-4372-B63C-B1CB006C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2563" y="3974306"/>
            <a:ext cx="67469" cy="67469"/>
          </a:xfrm>
          <a:custGeom xmlns:a="http://schemas.openxmlformats.org/drawingml/2006/main">
            <a:rect l="l" t="t" r="r" b="b"/>
            <a:pathLst>
              <a:path w="67469" h="67469">
                <a:moveTo>
                  <a:pt x="0" y="0"/>
                </a:moveTo>
                <a:lnTo>
                  <a:pt x="0" y="53975"/>
                </a:lnTo>
                <a:cubicBezTo>
                  <a:pt x="0" y="61428"/>
                  <a:pt x="6041" y="67469"/>
                  <a:pt x="13494" y="67469"/>
                </a:cubicBezTo>
                <a:lnTo>
                  <a:pt x="67469" y="67469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D3B0D375-71C6-463D-B9F6-D5196EE6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1119" y="3974306"/>
            <a:ext cx="188913" cy="242888"/>
          </a:xfrm>
          <a:custGeom xmlns:a="http://schemas.openxmlformats.org/drawingml/2006/main">
            <a:rect l="l" t="t" r="r" b="b"/>
            <a:pathLst>
              <a:path w="188913" h="242888">
                <a:moveTo>
                  <a:pt x="161925" y="242888"/>
                </a:moveTo>
                <a:lnTo>
                  <a:pt x="26988" y="242888"/>
                </a:lnTo>
                <a:cubicBezTo>
                  <a:pt x="12083" y="242888"/>
                  <a:pt x="0" y="230805"/>
                  <a:pt x="0" y="215901"/>
                </a:cubicBezTo>
                <a:lnTo>
                  <a:pt x="0" y="26988"/>
                </a:lnTo>
                <a:cubicBezTo>
                  <a:pt x="0" y="12083"/>
                  <a:pt x="12083" y="0"/>
                  <a:pt x="26988" y="0"/>
                </a:cubicBezTo>
                <a:lnTo>
                  <a:pt x="121444" y="0"/>
                </a:lnTo>
                <a:lnTo>
                  <a:pt x="188913" y="67469"/>
                </a:lnTo>
                <a:lnTo>
                  <a:pt x="188913" y="215901"/>
                </a:lnTo>
                <a:cubicBezTo>
                  <a:pt x="188913" y="230805"/>
                  <a:pt x="176830" y="242888"/>
                  <a:pt x="161925" y="2428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033C9DD-2481-4A1D-9813-E45E4582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5094" y="4055269"/>
            <a:ext cx="13494" cy="9525"/>
          </a:xfrm>
          <a:custGeom xmlns:a="http://schemas.openxmlformats.org/drawingml/2006/main">
            <a:rect l="l" t="t" r="r" b="b"/>
            <a:pathLst>
              <a:path w="13494" h="9525">
                <a:moveTo>
                  <a:pt x="0" y="0"/>
                </a:moveTo>
                <a:lnTo>
                  <a:pt x="134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BA805ED-C7AC-4915-B028-E5107B7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5094" y="4109244"/>
            <a:ext cx="80963" cy="9525"/>
          </a:xfrm>
          <a:custGeom xmlns:a="http://schemas.openxmlformats.org/drawingml/2006/main">
            <a:rect l="l" t="t" r="r" b="b"/>
            <a:pathLst>
              <a:path w="80963" h="9525">
                <a:moveTo>
                  <a:pt x="0" y="0"/>
                </a:move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D383446-2396-4954-A267-8925DF82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5094" y="4163219"/>
            <a:ext cx="80963" cy="9525"/>
          </a:xfrm>
          <a:custGeom xmlns:a="http://schemas.openxmlformats.org/drawingml/2006/main">
            <a:rect l="l" t="t" r="r" b="b"/>
            <a:pathLst>
              <a:path w="80963" h="9525">
                <a:moveTo>
                  <a:pt x="0" y="0"/>
                </a:moveTo>
                <a:lnTo>
                  <a:pt x="809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rgbClr val="13A89E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430653E-ABE7-49CB-980F-4925578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6" y="3975100"/>
            <a:ext cx="987552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文档边界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42D73EC-0A7E-4873-939F-A45EE2A3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92" y="4413250"/>
            <a:ext cx="2774061" cy="83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单文件不超过20 MB。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PDF最多80页；扫描OCR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单次最多10页，效果受清晰度影响。</a:t>
            </a:r>
          </a:p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A1B45442-0DD9-40B1-8C00-0F739310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81650"/>
            <a:ext cx="4762500" cy="9525"/>
          </a:xfrm>
          <a:custGeom xmlns:a="http://schemas.openxmlformats.org/drawingml/2006/main"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D2ED171-E576-4B23-943C-6E8E6CBD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5911850"/>
            <a:ext cx="492061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优先保留原文、错误提示和人工核对入口，不伪造完整答案。</a:t>
            </a:r>
          </a:p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24033E28-9D85-49F6-A942-6B01013A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C0819BFB-E6B1-4498-97DD-8608CF6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8349660-D13B-49EB-85B0-1CAF919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1615873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AE3B5FE-29B4-47CB-877F-0B59733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35175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08 / 测试与验收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827BBF4-D64B-4D20-A73B-D8FE77F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1A3B598-0BB6-49EE-B455-46A8C838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5120640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测试记录覆盖核心交付路径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FD5CA524-3768-4E25-8D50-608681C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4FF78-0B23-446E-8396-1FD7350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0500"/>
            <a:ext cx="924371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7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9D2E928-A5AF-416B-924F-1EB428F7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" y="3727450"/>
            <a:ext cx="195681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项自动化测试通过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2594174-6AD4-46C9-9F38-40B762B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42" y="4235450"/>
            <a:ext cx="170387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服务端 pytest 48 项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CDEF326-73A1-45F6-941C-1738FC78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42" y="4540250"/>
            <a:ext cx="151476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移动端 Node 34 项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54F08517-14D7-4169-A510-FDB2106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9525" cy="3543300"/>
          </a:xfrm>
          <a:custGeom xmlns:a="http://schemas.openxmlformats.org/drawingml/2006/main">
            <a:rect l="l" t="t" r="r" b="b"/>
            <a:pathLst>
              <a:path w="9525" h="3543300">
                <a:moveTo>
                  <a:pt x="0" y="0"/>
                </a:moveTo>
                <a:lnTo>
                  <a:pt x="0" y="3543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E1E8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B4F47DC-9646-4528-9AE6-ACC88482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558" y="1803400"/>
            <a:ext cx="1639824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构建与真机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442AB1E-AFE3-461E-9F8D-DC0264D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4331" y="2571750"/>
            <a:ext cx="142875" cy="190500"/>
          </a:xfrm>
          <a:custGeom xmlns:a="http://schemas.openxmlformats.org/drawingml/2006/main">
            <a:rect l="l" t="t" r="r" b="b"/>
            <a:pathLst>
              <a:path w="142875" h="190500">
                <a:moveTo>
                  <a:pt x="54947" y="190500"/>
                </a:moveTo>
                <a:lnTo>
                  <a:pt x="23812" y="190500"/>
                </a:lnTo>
                <a:cubicBezTo>
                  <a:pt x="10661" y="190500"/>
                  <a:pt x="0" y="179839"/>
                  <a:pt x="0" y="16668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lnTo>
                  <a:pt x="119062" y="0"/>
                </a:lnTo>
                <a:cubicBezTo>
                  <a:pt x="132214" y="0"/>
                  <a:pt x="142875" y="10661"/>
                  <a:pt x="142875" y="23812"/>
                </a:cubicBezTo>
                <a:lnTo>
                  <a:pt x="142875" y="119062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584417E-B863-462D-9F33-86501C2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1488" y="2726531"/>
            <a:ext cx="71438" cy="47625"/>
          </a:xfrm>
          <a:custGeom xmlns:a="http://schemas.openxmlformats.org/drawingml/2006/main"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FCB231-238A-43EB-9B40-16FCE04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956" y="2619375"/>
            <a:ext cx="47625" cy="9525"/>
          </a:xfrm>
          <a:custGeom xmlns:a="http://schemas.openxmlformats.org/drawingml/2006/main">
            <a:rect l="l" t="t" r="r" b="b"/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3210393-329B-4048-A999-53673E30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956" y="2667000"/>
            <a:ext cx="23812" cy="9525"/>
          </a:xfrm>
          <a:custGeom xmlns:a="http://schemas.openxmlformats.org/drawingml/2006/main">
            <a:rect l="l" t="t" r="r" b="b"/>
            <a:pathLst>
              <a:path w="23812" h="9525">
                <a:moveTo>
                  <a:pt x="0" y="0"/>
                </a:moveTo>
                <a:lnTo>
                  <a:pt x="23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028FB11-690A-4C6A-8384-5B1ED9C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536825"/>
            <a:ext cx="262844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H5 与 App 资源构建通过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964E44E-93E1-45E0-83DB-27B63DF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6238" y="3159919"/>
            <a:ext cx="142875" cy="214312"/>
          </a:xfrm>
          <a:custGeom xmlns:a="http://schemas.openxmlformats.org/drawingml/2006/main">
            <a:rect l="l" t="t" r="r" b="b"/>
            <a:pathLst>
              <a:path w="142875" h="214312">
                <a:moveTo>
                  <a:pt x="0" y="23812"/>
                </a:moveTo>
                <a:cubicBezTo>
                  <a:pt x="0" y="10661"/>
                  <a:pt x="10661" y="0"/>
                  <a:pt x="23812" y="0"/>
                </a:cubicBezTo>
                <a:lnTo>
                  <a:pt x="119062" y="0"/>
                </a:lnTo>
                <a:cubicBezTo>
                  <a:pt x="132214" y="0"/>
                  <a:pt x="142875" y="10661"/>
                  <a:pt x="142875" y="23812"/>
                </a:cubicBezTo>
                <a:lnTo>
                  <a:pt x="142875" y="190500"/>
                </a:lnTo>
                <a:cubicBezTo>
                  <a:pt x="142875" y="203651"/>
                  <a:pt x="132214" y="214312"/>
                  <a:pt x="119062" y="214312"/>
                </a:cubicBezTo>
                <a:lnTo>
                  <a:pt x="23812" y="214312"/>
                </a:lnTo>
                <a:cubicBezTo>
                  <a:pt x="10661" y="214312"/>
                  <a:pt x="0" y="203651"/>
                  <a:pt x="0" y="190500"/>
                </a:cubicBezTo>
                <a:lnTo>
                  <a:pt x="0" y="23812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CFAFEB9-9576-4469-B39B-C0F9B8DF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5769" y="3171825"/>
            <a:ext cx="23812" cy="9525"/>
          </a:xfrm>
          <a:custGeom xmlns:a="http://schemas.openxmlformats.org/drawingml/2006/main">
            <a:rect l="l" t="t" r="r" b="b"/>
            <a:pathLst>
              <a:path w="23812" h="9525">
                <a:moveTo>
                  <a:pt x="0" y="0"/>
                </a:moveTo>
                <a:lnTo>
                  <a:pt x="23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DA030B9-DA77-48DB-A62C-33A9218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7675" y="3326606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4214C0F-AD39-4514-8170-73E42F64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098800"/>
            <a:ext cx="2990088" cy="6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Android 15 · iQOO 9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覆盖升级后原有本机数据保留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8F61F9A-EBB2-4B54-8288-7E7C860E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519" y="4057650"/>
            <a:ext cx="202406" cy="190500"/>
          </a:xfrm>
          <a:custGeom xmlns:a="http://schemas.openxmlformats.org/drawingml/2006/main">
            <a:rect l="l" t="t" r="r" b="b"/>
            <a:pathLst>
              <a:path w="202406" h="190500">
                <a:moveTo>
                  <a:pt x="154781" y="166688"/>
                </a:moveTo>
                <a:cubicBezTo>
                  <a:pt x="167933" y="166688"/>
                  <a:pt x="178594" y="177349"/>
                  <a:pt x="178594" y="190500"/>
                </a:cubicBezTo>
                <a:cubicBezTo>
                  <a:pt x="178594" y="177349"/>
                  <a:pt x="189255" y="166688"/>
                  <a:pt x="202406" y="166688"/>
                </a:cubicBezTo>
                <a:cubicBezTo>
                  <a:pt x="189255" y="166688"/>
                  <a:pt x="178594" y="156026"/>
                  <a:pt x="178594" y="142875"/>
                </a:cubicBezTo>
                <a:cubicBezTo>
                  <a:pt x="178594" y="156026"/>
                  <a:pt x="167933" y="166688"/>
                  <a:pt x="154781" y="166688"/>
                </a:cubicBezTo>
                <a:moveTo>
                  <a:pt x="154781" y="23812"/>
                </a:moveTo>
                <a:cubicBezTo>
                  <a:pt x="167933" y="23812"/>
                  <a:pt x="178594" y="34474"/>
                  <a:pt x="178594" y="47625"/>
                </a:cubicBezTo>
                <a:cubicBezTo>
                  <a:pt x="178594" y="34474"/>
                  <a:pt x="189255" y="23812"/>
                  <a:pt x="202406" y="23812"/>
                </a:cubicBezTo>
                <a:cubicBezTo>
                  <a:pt x="189255" y="23812"/>
                  <a:pt x="178594" y="13151"/>
                  <a:pt x="178594" y="0"/>
                </a:cubicBezTo>
                <a:cubicBezTo>
                  <a:pt x="178594" y="13151"/>
                  <a:pt x="167933" y="23812"/>
                  <a:pt x="154781" y="23812"/>
                </a:cubicBezTo>
                <a:moveTo>
                  <a:pt x="71438" y="166688"/>
                </a:moveTo>
                <a:cubicBezTo>
                  <a:pt x="71438" y="127234"/>
                  <a:pt x="103421" y="95250"/>
                  <a:pt x="142875" y="95250"/>
                </a:cubicBezTo>
                <a:cubicBezTo>
                  <a:pt x="103421" y="95250"/>
                  <a:pt x="71438" y="63266"/>
                  <a:pt x="71438" y="23812"/>
                </a:cubicBezTo>
                <a:cubicBezTo>
                  <a:pt x="71438" y="63266"/>
                  <a:pt x="39454" y="95250"/>
                  <a:pt x="0" y="95250"/>
                </a:cubicBezTo>
                <a:cubicBezTo>
                  <a:pt x="39454" y="95250"/>
                  <a:pt x="71438" y="127234"/>
                  <a:pt x="71438" y="1666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06FE661-47B7-4C91-A33E-DDA46543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994150"/>
            <a:ext cx="2155698" cy="6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5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同一条 2,984 字通知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AI深读连续3次成功</a:t>
            </a:r>
          </a:p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BDF71565-B4CF-4199-A6FA-943BF0E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7239000" cy="9525"/>
          </a:xfrm>
          <a:custGeom xmlns:a="http://schemas.openxmlformats.org/drawingml/2006/main"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B451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888D5DE-7D05-47BB-8582-1F93F108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892" y="5213350"/>
            <a:ext cx="3271266" cy="54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这是单条样例抽查，不代表整体准确率。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日历只验证预填编辑页，未保存真实事件。</a:t>
            </a:r>
          </a:p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BF8722E0-4881-48D9-86D2-F4A0581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6A76A2-02D9-4A58-A0A2-0509BE1E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69B4EDD-88C4-4851-9552-32B47A7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</p:spTree>
    <p:extLst>
      <p:ext uri="{BB962C8B-B14F-4D97-AF65-F5344CB8AC3E}">
        <p14:creationId xmlns:p14="http://schemas.microsoft.com/office/powerpoint/2010/main" val="805084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8C6D37C-6786-4EFF-A73F-0F8BF6A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254000"/>
            <a:ext cx="135175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09 / 发布与边界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AD184C2-5672-41C4-8D23-12D0DD04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431" y="254000"/>
            <a:ext cx="21362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114A133-4EE5-4CCA-9D25-FC5FD958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98" y="685800"/>
            <a:ext cx="6816852" cy="616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线上发布已完成，部分行为仍待验证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3E5E7B04-CF13-4B0A-A6B0-CE9AC70D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1558C3B-71E2-43FA-AEF4-9ADBF517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" y="1641475"/>
            <a:ext cx="176478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已发布 / 已验收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ED6EF1AA-BCE8-406A-99D6-194A06C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81550" cy="9525"/>
          </a:xfrm>
          <a:custGeom xmlns:a="http://schemas.openxmlformats.org/drawingml/2006/main">
            <a:rect l="l" t="t" r="r" b="b"/>
            <a:pathLst>
              <a:path w="4781550" h="9525">
                <a:moveTo>
                  <a:pt x="0" y="0"/>
                </a:moveTo>
                <a:lnTo>
                  <a:pt x="478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3A89E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171CE6A-3540-4F80-BDE9-3AF338C1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2406650"/>
            <a:ext cx="99214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HTTPS 网站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0D15077-5000-4FBD-AD9B-A58D2C1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" y="2641600"/>
            <a:ext cx="2348194" cy="469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tiredwhite.cn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6B1E8C-9644-4329-A67F-66D397AD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3302000"/>
            <a:ext cx="109676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607789"/>
                </a:solidFill>
                <a:latin typeface="Arial"/>
                <a:ea typeface="Arial"/>
                <a:cs typeface="Arial"/>
              </a:rPr>
              <a:t>Android APK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EB596D-A4E1-4618-A66E-CC7AB90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" y="3600450"/>
            <a:ext cx="29976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0.3.8 · versionCode 308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08C58E1-BF1D-4482-90C9-474E6114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2" y="4146550"/>
            <a:ext cx="1899666" cy="54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公网下载包与本机签名包</a:t>
            </a:r>
            <a:b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18232C"/>
                </a:solidFill>
                <a:latin typeface="Arial"/>
                <a:ea typeface="Arial"/>
                <a:cs typeface="Arial"/>
              </a:rPr>
              <a:t>SHA-256一致。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0BA92992-724A-4A45-9810-E0D74038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9525" cy="4019550"/>
          </a:xfrm>
          <a:custGeom xmlns:a="http://schemas.openxmlformats.org/drawingml/2006/main">
            <a:rect l="l" t="t" r="r" b="b"/>
            <a:pathLst>
              <a:path w="9525" h="4019550">
                <a:moveTo>
                  <a:pt x="0" y="0"/>
                </a:moveTo>
                <a:lnTo>
                  <a:pt x="0" y="4019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E1E8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716B154-CF4D-464D-A8DF-B2A7D17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206" y="1641475"/>
            <a:ext cx="147218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2B451"/>
                </a:solidFill>
                <a:latin typeface="Arial"/>
                <a:ea typeface="Arial"/>
                <a:cs typeface="Arial"/>
              </a:rPr>
              <a:t>仍需继续验证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46F9347B-83A3-4932-B3F1-7CB4390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743450" cy="9525"/>
          </a:xfrm>
          <a:custGeom xmlns:a="http://schemas.openxmlformats.org/drawingml/2006/main">
            <a:rect l="l" t="t" r="r" b="b"/>
            <a:pathLst>
              <a:path w="4743450" h="9525">
                <a:moveTo>
                  <a:pt x="0" y="0"/>
                </a:moveTo>
                <a:lnTo>
                  <a:pt x="474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B451"/>
            </a:solidFill>
          </a:ln>
        </p:spPr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DC067171-3974-467C-AEF7-EA54AB7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451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CF876F-EFC2-430E-A31E-CDF7CD09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056" y="2498725"/>
            <a:ext cx="389534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系统日历事件的真实保存与提醒送达</a:t>
            </a:r>
          </a:p>
        </p:txBody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7255C011-182C-4B2A-9AFC-1BD14AD6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451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C1269BF-B253-469F-A940-5223D19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056" y="3336925"/>
            <a:ext cx="388437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多类型真实扫描件上的OCR识别质量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989F4BFE-F6D6-4886-87C6-55C0D9C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451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6DE8DB8-A2FB-4E40-9ED6-D11CFB42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056" y="4175125"/>
            <a:ext cx="338602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冻结通知集上的正式AI效果评估</a:t>
            </a:r>
          </a:p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3AD0BD00-5A0E-4C69-BA58-7AC88B2F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62550"/>
            <a:ext cx="4743450" cy="9525"/>
          </a:xfrm>
          <a:custGeom xmlns:a="http://schemas.openxmlformats.org/drawingml/2006/main">
            <a:rect l="l" t="t" r="r" b="b"/>
            <a:pathLst>
              <a:path w="4743450" h="9525">
                <a:moveTo>
                  <a:pt x="0" y="0"/>
                </a:moveTo>
                <a:lnTo>
                  <a:pt x="474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ADE973-8A89-4465-AE15-4CD088C8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492" y="5327650"/>
            <a:ext cx="2585466" cy="54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本次不含校园知识库、账号云同步</a:t>
            </a:r>
            <a:b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</a:b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或AI自动提交事务。</a:t>
            </a:r>
          </a:p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2ED6315E-2247-4354-B5F3-15BBC39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820400" cy="9525"/>
          </a:xfrm>
          <a:custGeom xmlns:a="http://schemas.openxmlformats.org/drawingml/2006/main"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102289E-9E0F-40BD-8630-AEA66AD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42" y="64738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1340D7D-7908-488A-A307-65ED6125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523" y="6473825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126799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7A5766C-371C-4B6E-B82F-33B22AB2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" y="425450"/>
            <a:ext cx="132358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知行 · 项目结论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C219ED8-ABA3-4086-A398-9FE3C1E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323" y="425450"/>
            <a:ext cx="622535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93120F60-858C-46EC-AC56-A020D206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10668000" cy="9525"/>
          </a:xfrm>
          <a:custGeom xmlns:a="http://schemas.openxmlformats.org/drawingml/2006/main"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E1E8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6613FC2-B74E-498A-BF9B-2F01F59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96608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建议可追溯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E4C1B5C-6EA2-4B10-8BA6-A99661E0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137279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行动由学生确认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12DB0D3-55F1-4322-8D05-E6DD4A2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" y="3663950"/>
            <a:ext cx="4818888" cy="713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50"/>
              </a:lnSpc>
              <a:buNone/>
            </a:pP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AI解释通知并提出候选步骤，</a:t>
            </a:r>
            <a:b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</a:br>
            <a:r>
              <a:rPr sz="1800">
                <a:solidFill>
                  <a:srgbClr val="18232C"/>
                </a:solidFill>
                <a:latin typeface="Arial"/>
                <a:ea typeface="Arial"/>
                <a:cs typeface="Arial"/>
              </a:rPr>
              <a:t>原文引用支持核对，人工确认连接建议与行动。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0B0D5C9E-CC71-4888-A9DE-BE3E132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9525"/>
          </a:xfrm>
          <a:custGeom xmlns:a="http://schemas.openxmlformats.org/drawingml/2006/main"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E1E8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43DD7A4-9928-4AB3-8B89-B40ACA8C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9" y="5495925"/>
            <a:ext cx="202406" cy="190500"/>
          </a:xfrm>
          <a:custGeom xmlns:a="http://schemas.openxmlformats.org/drawingml/2006/main">
            <a:rect l="l" t="t" r="r" b="b"/>
            <a:pathLst>
              <a:path w="202406" h="190500">
                <a:moveTo>
                  <a:pt x="154781" y="166688"/>
                </a:moveTo>
                <a:cubicBezTo>
                  <a:pt x="167933" y="166688"/>
                  <a:pt x="178594" y="177349"/>
                  <a:pt x="178594" y="190500"/>
                </a:cubicBezTo>
                <a:cubicBezTo>
                  <a:pt x="178594" y="177349"/>
                  <a:pt x="189255" y="166688"/>
                  <a:pt x="202406" y="166688"/>
                </a:cubicBezTo>
                <a:cubicBezTo>
                  <a:pt x="189255" y="166688"/>
                  <a:pt x="178594" y="156026"/>
                  <a:pt x="178594" y="142875"/>
                </a:cubicBezTo>
                <a:cubicBezTo>
                  <a:pt x="178594" y="156026"/>
                  <a:pt x="167933" y="166688"/>
                  <a:pt x="154781" y="166688"/>
                </a:cubicBezTo>
                <a:moveTo>
                  <a:pt x="154781" y="23812"/>
                </a:moveTo>
                <a:cubicBezTo>
                  <a:pt x="167933" y="23812"/>
                  <a:pt x="178594" y="34474"/>
                  <a:pt x="178594" y="47625"/>
                </a:cubicBezTo>
                <a:cubicBezTo>
                  <a:pt x="178594" y="34474"/>
                  <a:pt x="189255" y="23812"/>
                  <a:pt x="202406" y="23812"/>
                </a:cubicBezTo>
                <a:cubicBezTo>
                  <a:pt x="189255" y="23812"/>
                  <a:pt x="178594" y="13151"/>
                  <a:pt x="178594" y="0"/>
                </a:cubicBezTo>
                <a:cubicBezTo>
                  <a:pt x="178594" y="13151"/>
                  <a:pt x="167933" y="23812"/>
                  <a:pt x="154781" y="23812"/>
                </a:cubicBezTo>
                <a:moveTo>
                  <a:pt x="71438" y="166688"/>
                </a:moveTo>
                <a:cubicBezTo>
                  <a:pt x="71438" y="127234"/>
                  <a:pt x="103421" y="95250"/>
                  <a:pt x="142875" y="95250"/>
                </a:cubicBezTo>
                <a:cubicBezTo>
                  <a:pt x="103421" y="95250"/>
                  <a:pt x="71438" y="63266"/>
                  <a:pt x="71438" y="23812"/>
                </a:cubicBezTo>
                <a:cubicBezTo>
                  <a:pt x="71438" y="63266"/>
                  <a:pt x="39454" y="95250"/>
                  <a:pt x="0" y="95250"/>
                </a:cubicBezTo>
                <a:cubicBezTo>
                  <a:pt x="39454" y="95250"/>
                  <a:pt x="71438" y="127234"/>
                  <a:pt x="71438" y="1666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2">
            <a:solidFill>
              <a:srgbClr val="13A89E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59AFD6-C6C4-4D9B-B335-8D338574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06" y="5461000"/>
            <a:ext cx="57285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44D"/>
                </a:solidFill>
                <a:latin typeface="Arial"/>
                <a:ea typeface="Arial"/>
                <a:cs typeface="Arial"/>
              </a:rPr>
              <a:t>现场演示：AI深读 → 查看原文 → 保存待办 → 断网修改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A6EE0C-A257-4C73-9FAC-A0946FAA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" y="6321425"/>
            <a:ext cx="276703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607789"/>
                </a:solidFill>
                <a:latin typeface="Arial"/>
                <a:ea typeface="Arial"/>
                <a:cs typeface="Arial"/>
              </a:rPr>
              <a:t>知行 · 智能移动应用开发项目实践</a:t>
            </a:r>
          </a:p>
        </p:txBody>
      </p:sp>
    </p:spTree>
    <p:extLst>
      <p:ext uri="{BB962C8B-B14F-4D97-AF65-F5344CB8AC3E}">
        <p14:creationId xmlns:p14="http://schemas.microsoft.com/office/powerpoint/2010/main" val="1819540224"/>
      </p:ext>
    </p:extLst>
  </p:cSld>
</p:sld>
</file>

<file path=ppt/theme/theme1.xml><?xml version="1.0" encoding="utf-8"?>
<a:theme xmlns:a="http://schemas.openxmlformats.org/drawingml/2006/main" name="zhixing-defense-20261022">
  <a:themeElements>
    <a:clrScheme name="zhixing-defense-202610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hixing-defense-2026102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xing-defense-202610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2026-10-22T07:08:11.4930000Z</dcterms:created>
  <dcterms:modified xsi:type="dcterms:W3CDTF">2026-10-22T07:08:11.4930000Z</dcterms:modified>
</coreProperties>
</file>